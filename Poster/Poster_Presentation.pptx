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8" r:id="rId2"/>
  </p:sldIdLst>
  <p:sldSz cx="30275213" cy="21383625"/>
  <p:notesSz cx="6858000" cy="9144000"/>
  <p:embeddedFontLst>
    <p:embeddedFont>
      <p:font typeface="Cambria Math" panose="02040503050406030204" pitchFamily="18" charset="0"/>
      <p:regular r:id="rId4"/>
    </p:embeddedFont>
    <p:embeddedFont>
      <p:font typeface="Fira Sans" panose="020B0503050000020004" pitchFamily="34" charset="0"/>
      <p:regular r:id="rId5"/>
      <p:bold r:id="rId6"/>
      <p:italic r:id="rId7"/>
      <p:boldItalic r:id="rId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735" userDrawn="1">
          <p15:clr>
            <a:srgbClr val="A4A3A4"/>
          </p15:clr>
        </p15:guide>
        <p15:guide id="2" pos="953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15C334-637E-85AE-6C54-3AF9D53958EB}" name="Henry, Lucas" initials="HL" userId="S::L.Henry17@universityofgalway.ie::1b7ab6d7-7b7c-420f-8c47-e36cf8cd328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0066"/>
    <a:srgbClr val="D600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05F176E-F5B0-49BC-A6F0-7B532ED82268}">
  <a:tblStyle styleId="{305F176E-F5B0-49BC-A6F0-7B532ED822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530"/>
    <p:restoredTop sz="94662"/>
  </p:normalViewPr>
  <p:slideViewPr>
    <p:cSldViewPr snapToGrid="0">
      <p:cViewPr>
        <p:scale>
          <a:sx n="154" d="100"/>
          <a:sy n="154" d="100"/>
        </p:scale>
        <p:origin x="144" y="-11168"/>
      </p:cViewPr>
      <p:guideLst>
        <p:guide orient="horz" pos="6735"/>
        <p:guide pos="953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heme" Target="theme/theme1.xml"/><Relationship Id="rId5" Type="http://schemas.openxmlformats.org/officeDocument/2006/relationships/font" Target="fonts/font2.fntdata"/><Relationship Id="rId10" Type="http://schemas.openxmlformats.org/officeDocument/2006/relationships/viewProps" Target="viewProps.xml"/><Relationship Id="rId4" Type="http://schemas.openxmlformats.org/officeDocument/2006/relationships/font" Target="fonts/font1.fntdata"/><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001713" y="685800"/>
            <a:ext cx="48545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41"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a:extLst>
            <a:ext uri="{FF2B5EF4-FFF2-40B4-BE49-F238E27FC236}">
              <a16:creationId xmlns:a16="http://schemas.microsoft.com/office/drawing/2014/main" id="{205BF948-E628-AF92-6376-DE0F3768C54E}"/>
            </a:ext>
          </a:extLst>
        </p:cNvPr>
        <p:cNvGrpSpPr/>
        <p:nvPr/>
      </p:nvGrpSpPr>
      <p:grpSpPr>
        <a:xfrm>
          <a:off x="0" y="0"/>
          <a:ext cx="0" cy="0"/>
          <a:chOff x="0" y="0"/>
          <a:chExt cx="0" cy="0"/>
        </a:xfrm>
      </p:grpSpPr>
      <p:sp>
        <p:nvSpPr>
          <p:cNvPr id="53" name="Google Shape;53;g3b9410dab18_0_5:notes">
            <a:extLst>
              <a:ext uri="{FF2B5EF4-FFF2-40B4-BE49-F238E27FC236}">
                <a16:creationId xmlns:a16="http://schemas.microsoft.com/office/drawing/2014/main" id="{B294DB4C-884D-FA56-E4EA-F1C6F8955CD7}"/>
              </a:ext>
            </a:extLst>
          </p:cNvPr>
          <p:cNvSpPr>
            <a:spLocks noGrp="1" noRot="1" noChangeAspect="1"/>
          </p:cNvSpPr>
          <p:nvPr>
            <p:ph type="sldImg" idx="2"/>
          </p:nvPr>
        </p:nvSpPr>
        <p:spPr>
          <a:xfrm>
            <a:off x="1003300" y="684213"/>
            <a:ext cx="4852988" cy="3429000"/>
          </a:xfrm>
          <a:custGeom>
            <a:avLst/>
            <a:gdLst/>
            <a:ahLst/>
            <a:cxnLst/>
            <a:rect l="l" t="t" r="r" b="b"/>
            <a:pathLst>
              <a:path w="120000" h="120000" extrusionOk="0">
                <a:moveTo>
                  <a:pt x="0" y="0"/>
                </a:moveTo>
                <a:lnTo>
                  <a:pt x="120000" y="0"/>
                </a:lnTo>
                <a:lnTo>
                  <a:pt x="120000" y="120000"/>
                </a:lnTo>
                <a:lnTo>
                  <a:pt x="0" y="120000"/>
                </a:lnTo>
                <a:close/>
              </a:path>
            </a:pathLst>
          </a:custGeom>
          <a:noFill/>
          <a:ln w="8975" cap="flat" cmpd="sng">
            <a:solidFill>
              <a:srgbClr val="000000"/>
            </a:solidFill>
            <a:prstDash val="solid"/>
            <a:miter lim="800000"/>
            <a:headEnd type="none" w="sm" len="sm"/>
            <a:tailEnd type="none" w="sm" len="sm"/>
          </a:ln>
        </p:spPr>
        <p:txBody>
          <a:bodyPr/>
          <a:lstStyle/>
          <a:p>
            <a:endParaRPr lang="en-US"/>
          </a:p>
        </p:txBody>
      </p:sp>
      <p:sp>
        <p:nvSpPr>
          <p:cNvPr id="54" name="Google Shape;54;g3b9410dab18_0_5:notes">
            <a:extLst>
              <a:ext uri="{FF2B5EF4-FFF2-40B4-BE49-F238E27FC236}">
                <a16:creationId xmlns:a16="http://schemas.microsoft.com/office/drawing/2014/main" id="{89D2099D-B4DE-8105-C568-0EE081ED3B0E}"/>
              </a:ext>
            </a:extLst>
          </p:cNvPr>
          <p:cNvSpPr txBox="1">
            <a:spLocks noGrp="1"/>
          </p:cNvSpPr>
          <p:nvPr>
            <p:ph type="body" idx="1"/>
          </p:nvPr>
        </p:nvSpPr>
        <p:spPr>
          <a:xfrm>
            <a:off x="686098" y="4343703"/>
            <a:ext cx="5485800" cy="4115400"/>
          </a:xfrm>
          <a:prstGeom prst="rect">
            <a:avLst/>
          </a:prstGeom>
          <a:noFill/>
          <a:ln>
            <a:noFill/>
          </a:ln>
        </p:spPr>
        <p:txBody>
          <a:bodyPr spcFirstLastPara="1" wrap="square" lIns="89400" tIns="44700" rIns="89400" bIns="44700" anchor="t" anchorCtr="0">
            <a:noAutofit/>
          </a:bodyPr>
          <a:lstStyle/>
          <a:p>
            <a:pPr marL="0" lvl="0" indent="0" algn="l" rtl="0">
              <a:spcBef>
                <a:spcPts val="0"/>
              </a:spcBef>
              <a:spcAft>
                <a:spcPts val="0"/>
              </a:spcAft>
              <a:buNone/>
            </a:pPr>
            <a:endParaRPr/>
          </a:p>
        </p:txBody>
      </p:sp>
      <p:sp>
        <p:nvSpPr>
          <p:cNvPr id="55" name="Google Shape;55;g3b9410dab18_0_5:notes">
            <a:extLst>
              <a:ext uri="{FF2B5EF4-FFF2-40B4-BE49-F238E27FC236}">
                <a16:creationId xmlns:a16="http://schemas.microsoft.com/office/drawing/2014/main" id="{B4C84099-DE78-8141-F215-6E05972BE92F}"/>
              </a:ext>
            </a:extLst>
          </p:cNvPr>
          <p:cNvSpPr txBox="1">
            <a:spLocks noGrp="1"/>
          </p:cNvSpPr>
          <p:nvPr>
            <p:ph type="sldNum" idx="12"/>
          </p:nvPr>
        </p:nvSpPr>
        <p:spPr>
          <a:xfrm>
            <a:off x="3884414" y="8684381"/>
            <a:ext cx="2972100" cy="458100"/>
          </a:xfrm>
          <a:prstGeom prst="rect">
            <a:avLst/>
          </a:prstGeom>
          <a:noFill/>
          <a:ln>
            <a:noFill/>
          </a:ln>
        </p:spPr>
        <p:txBody>
          <a:bodyPr spcFirstLastPara="1" wrap="square" lIns="89400" tIns="44700" rIns="89400" bIns="44700" anchor="b" anchorCtr="0">
            <a:noAutofit/>
          </a:bodyPr>
          <a:lstStyle/>
          <a:p>
            <a:pPr marL="0" lvl="0" indent="0" algn="r" rtl="0">
              <a:spcBef>
                <a:spcPts val="0"/>
              </a:spcBef>
              <a:spcAft>
                <a:spcPts val="0"/>
              </a:spcAft>
              <a:buNone/>
            </a:pPr>
            <a:fld id="{00000000-1234-1234-1234-123412341234}" type="slidenum">
              <a:rPr lang="en" sz="1300"/>
              <a:t>1</a:t>
            </a:fld>
            <a:endParaRPr sz="1300"/>
          </a:p>
        </p:txBody>
      </p:sp>
    </p:spTree>
    <p:extLst>
      <p:ext uri="{BB962C8B-B14F-4D97-AF65-F5344CB8AC3E}">
        <p14:creationId xmlns:p14="http://schemas.microsoft.com/office/powerpoint/2010/main" val="25154053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1032019" y="8941960"/>
            <a:ext cx="28211257" cy="3499628"/>
          </a:xfrm>
          <a:prstGeom prst="rect">
            <a:avLst/>
          </a:prstGeom>
          <a:noFill/>
          <a:ln>
            <a:noFill/>
          </a:ln>
        </p:spPr>
        <p:txBody>
          <a:bodyPr spcFirstLastPara="1" wrap="square" lIns="487600" tIns="487600" rIns="487600" bIns="487600" anchor="ctr" anchorCtr="0">
            <a:normAutofit/>
          </a:bodyPr>
          <a:lstStyle>
            <a:lvl1pPr lvl="0" algn="ctr">
              <a:lnSpc>
                <a:spcPct val="100000"/>
              </a:lnSpc>
              <a:spcBef>
                <a:spcPts val="0"/>
              </a:spcBef>
              <a:spcAft>
                <a:spcPts val="0"/>
              </a:spcAft>
              <a:buSzPts val="19200"/>
              <a:buNone/>
              <a:defRPr sz="12472"/>
            </a:lvl1pPr>
            <a:lvl2pPr lvl="1" algn="ctr">
              <a:lnSpc>
                <a:spcPct val="100000"/>
              </a:lnSpc>
              <a:spcBef>
                <a:spcPts val="0"/>
              </a:spcBef>
              <a:spcAft>
                <a:spcPts val="0"/>
              </a:spcAft>
              <a:buSzPts val="19200"/>
              <a:buNone/>
              <a:defRPr sz="12472"/>
            </a:lvl2pPr>
            <a:lvl3pPr lvl="2" algn="ctr">
              <a:lnSpc>
                <a:spcPct val="100000"/>
              </a:lnSpc>
              <a:spcBef>
                <a:spcPts val="0"/>
              </a:spcBef>
              <a:spcAft>
                <a:spcPts val="0"/>
              </a:spcAft>
              <a:buSzPts val="19200"/>
              <a:buNone/>
              <a:defRPr sz="12472"/>
            </a:lvl3pPr>
            <a:lvl4pPr lvl="3" algn="ctr">
              <a:lnSpc>
                <a:spcPct val="100000"/>
              </a:lnSpc>
              <a:spcBef>
                <a:spcPts val="0"/>
              </a:spcBef>
              <a:spcAft>
                <a:spcPts val="0"/>
              </a:spcAft>
              <a:buSzPts val="19200"/>
              <a:buNone/>
              <a:defRPr sz="12472"/>
            </a:lvl4pPr>
            <a:lvl5pPr lvl="4" algn="ctr">
              <a:lnSpc>
                <a:spcPct val="100000"/>
              </a:lnSpc>
              <a:spcBef>
                <a:spcPts val="0"/>
              </a:spcBef>
              <a:spcAft>
                <a:spcPts val="0"/>
              </a:spcAft>
              <a:buSzPts val="19200"/>
              <a:buNone/>
              <a:defRPr sz="12472"/>
            </a:lvl5pPr>
            <a:lvl6pPr lvl="5" algn="ctr">
              <a:lnSpc>
                <a:spcPct val="100000"/>
              </a:lnSpc>
              <a:spcBef>
                <a:spcPts val="0"/>
              </a:spcBef>
              <a:spcAft>
                <a:spcPts val="0"/>
              </a:spcAft>
              <a:buSzPts val="19200"/>
              <a:buNone/>
              <a:defRPr sz="12472"/>
            </a:lvl6pPr>
            <a:lvl7pPr lvl="6" algn="ctr">
              <a:lnSpc>
                <a:spcPct val="100000"/>
              </a:lnSpc>
              <a:spcBef>
                <a:spcPts val="0"/>
              </a:spcBef>
              <a:spcAft>
                <a:spcPts val="0"/>
              </a:spcAft>
              <a:buSzPts val="19200"/>
              <a:buNone/>
              <a:defRPr sz="12472"/>
            </a:lvl7pPr>
            <a:lvl8pPr lvl="7" algn="ctr">
              <a:lnSpc>
                <a:spcPct val="100000"/>
              </a:lnSpc>
              <a:spcBef>
                <a:spcPts val="0"/>
              </a:spcBef>
              <a:spcAft>
                <a:spcPts val="0"/>
              </a:spcAft>
              <a:buSzPts val="19200"/>
              <a:buNone/>
              <a:defRPr sz="12472"/>
            </a:lvl8pPr>
            <a:lvl9pPr lvl="8" algn="ctr">
              <a:lnSpc>
                <a:spcPct val="100000"/>
              </a:lnSpc>
              <a:spcBef>
                <a:spcPts val="0"/>
              </a:spcBef>
              <a:spcAft>
                <a:spcPts val="0"/>
              </a:spcAft>
              <a:buSzPts val="19200"/>
              <a:buNone/>
              <a:defRPr sz="12472"/>
            </a:lvl9pPr>
          </a:lstStyle>
          <a:p>
            <a:endParaRPr/>
          </a:p>
        </p:txBody>
      </p:sp>
      <p:sp>
        <p:nvSpPr>
          <p:cNvPr id="17" name="Google Shape;17;p3"/>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a:endParaRPr/>
          </a:p>
        </p:txBody>
      </p:sp>
      <p:sp>
        <p:nvSpPr>
          <p:cNvPr id="20" name="Google Shape;20;p4"/>
          <p:cNvSpPr txBox="1">
            <a:spLocks noGrp="1"/>
          </p:cNvSpPr>
          <p:nvPr>
            <p:ph type="body" idx="1"/>
          </p:nvPr>
        </p:nvSpPr>
        <p:spPr>
          <a:xfrm>
            <a:off x="1032019" y="4791308"/>
            <a:ext cx="28211257" cy="14203328"/>
          </a:xfrm>
          <a:prstGeom prst="rect">
            <a:avLst/>
          </a:prstGeom>
          <a:noFill/>
          <a:ln>
            <a:noFill/>
          </a:ln>
        </p:spPr>
        <p:txBody>
          <a:bodyPr spcFirstLastPara="1" wrap="square" lIns="487600" tIns="487600" rIns="487600" bIns="487600" anchor="t" anchorCtr="0">
            <a:normAutofit/>
          </a:bodyPr>
          <a:lstStyle>
            <a:lvl1pPr marL="296997" lvl="0" indent="-544495" algn="l">
              <a:lnSpc>
                <a:spcPct val="115000"/>
              </a:lnSpc>
              <a:spcBef>
                <a:spcPts val="0"/>
              </a:spcBef>
              <a:spcAft>
                <a:spcPts val="0"/>
              </a:spcAft>
              <a:buSzPts val="9600"/>
              <a:buChar char="●"/>
              <a:defRPr/>
            </a:lvl1pPr>
            <a:lvl2pPr marL="593994" lvl="1" indent="-457871" algn="l">
              <a:lnSpc>
                <a:spcPct val="115000"/>
              </a:lnSpc>
              <a:spcBef>
                <a:spcPts val="0"/>
              </a:spcBef>
              <a:spcAft>
                <a:spcPts val="0"/>
              </a:spcAft>
              <a:buSzPts val="7500"/>
              <a:buChar char="○"/>
              <a:defRPr/>
            </a:lvl2pPr>
            <a:lvl3pPr marL="890991" lvl="2" indent="-457871" algn="l">
              <a:lnSpc>
                <a:spcPct val="115000"/>
              </a:lnSpc>
              <a:spcBef>
                <a:spcPts val="0"/>
              </a:spcBef>
              <a:spcAft>
                <a:spcPts val="0"/>
              </a:spcAft>
              <a:buSzPts val="7500"/>
              <a:buChar char="■"/>
              <a:defRPr/>
            </a:lvl3pPr>
            <a:lvl4pPr marL="1187988" lvl="3" indent="-457871" algn="l">
              <a:lnSpc>
                <a:spcPct val="115000"/>
              </a:lnSpc>
              <a:spcBef>
                <a:spcPts val="0"/>
              </a:spcBef>
              <a:spcAft>
                <a:spcPts val="0"/>
              </a:spcAft>
              <a:buSzPts val="7500"/>
              <a:buChar char="●"/>
              <a:defRPr/>
            </a:lvl4pPr>
            <a:lvl5pPr marL="1484986" lvl="4" indent="-457871" algn="l">
              <a:lnSpc>
                <a:spcPct val="115000"/>
              </a:lnSpc>
              <a:spcBef>
                <a:spcPts val="0"/>
              </a:spcBef>
              <a:spcAft>
                <a:spcPts val="0"/>
              </a:spcAft>
              <a:buSzPts val="7500"/>
              <a:buChar char="○"/>
              <a:defRPr/>
            </a:lvl5pPr>
            <a:lvl6pPr marL="1781983" lvl="5" indent="-457871" algn="l">
              <a:lnSpc>
                <a:spcPct val="115000"/>
              </a:lnSpc>
              <a:spcBef>
                <a:spcPts val="0"/>
              </a:spcBef>
              <a:spcAft>
                <a:spcPts val="0"/>
              </a:spcAft>
              <a:buSzPts val="7500"/>
              <a:buChar char="■"/>
              <a:defRPr/>
            </a:lvl6pPr>
            <a:lvl7pPr marL="2078980" lvl="6" indent="-457871" algn="l">
              <a:lnSpc>
                <a:spcPct val="115000"/>
              </a:lnSpc>
              <a:spcBef>
                <a:spcPts val="0"/>
              </a:spcBef>
              <a:spcAft>
                <a:spcPts val="0"/>
              </a:spcAft>
              <a:buSzPts val="7500"/>
              <a:buChar char="●"/>
              <a:defRPr/>
            </a:lvl7pPr>
            <a:lvl8pPr marL="2375977" lvl="7" indent="-457871" algn="l">
              <a:lnSpc>
                <a:spcPct val="115000"/>
              </a:lnSpc>
              <a:spcBef>
                <a:spcPts val="0"/>
              </a:spcBef>
              <a:spcAft>
                <a:spcPts val="0"/>
              </a:spcAft>
              <a:buSzPts val="7500"/>
              <a:buChar char="○"/>
              <a:defRPr/>
            </a:lvl8pPr>
            <a:lvl9pPr marL="2672974" lvl="8" indent="-457871" algn="l">
              <a:lnSpc>
                <a:spcPct val="115000"/>
              </a:lnSpc>
              <a:spcBef>
                <a:spcPts val="0"/>
              </a:spcBef>
              <a:spcAft>
                <a:spcPts val="0"/>
              </a:spcAft>
              <a:buSzPts val="7500"/>
              <a:buChar char="■"/>
              <a:defRPr/>
            </a:lvl9pPr>
          </a:lstStyle>
          <a:p>
            <a:endParaRPr/>
          </a:p>
        </p:txBody>
      </p:sp>
      <p:sp>
        <p:nvSpPr>
          <p:cNvPr id="21" name="Google Shape;21;p4"/>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5"/>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a:endParaRPr/>
          </a:p>
        </p:txBody>
      </p:sp>
      <p:sp>
        <p:nvSpPr>
          <p:cNvPr id="24" name="Google Shape;24;p5"/>
          <p:cNvSpPr txBox="1">
            <a:spLocks noGrp="1"/>
          </p:cNvSpPr>
          <p:nvPr>
            <p:ph type="body" idx="1"/>
          </p:nvPr>
        </p:nvSpPr>
        <p:spPr>
          <a:xfrm>
            <a:off x="1032019" y="4791308"/>
            <a:ext cx="13243336" cy="14203328"/>
          </a:xfrm>
          <a:prstGeom prst="rect">
            <a:avLst/>
          </a:prstGeom>
          <a:noFill/>
          <a:ln>
            <a:noFill/>
          </a:ln>
        </p:spPr>
        <p:txBody>
          <a:bodyPr spcFirstLastPara="1" wrap="square" lIns="487600" tIns="487600" rIns="487600" bIns="487600" anchor="t" anchorCtr="0">
            <a:normAutofit/>
          </a:bodyPr>
          <a:lstStyle>
            <a:lvl1pPr marL="296997" lvl="0" indent="-457871" algn="l">
              <a:lnSpc>
                <a:spcPct val="115000"/>
              </a:lnSpc>
              <a:spcBef>
                <a:spcPts val="0"/>
              </a:spcBef>
              <a:spcAft>
                <a:spcPts val="0"/>
              </a:spcAft>
              <a:buSzPts val="7500"/>
              <a:buChar char="●"/>
              <a:defRPr sz="4872"/>
            </a:lvl1pPr>
            <a:lvl2pPr marL="593994" lvl="1" indent="-412496" algn="l">
              <a:lnSpc>
                <a:spcPct val="115000"/>
              </a:lnSpc>
              <a:spcBef>
                <a:spcPts val="0"/>
              </a:spcBef>
              <a:spcAft>
                <a:spcPts val="0"/>
              </a:spcAft>
              <a:buSzPts val="6400"/>
              <a:buChar char="○"/>
              <a:defRPr sz="4157"/>
            </a:lvl2pPr>
            <a:lvl3pPr marL="890991" lvl="2" indent="-412496" algn="l">
              <a:lnSpc>
                <a:spcPct val="115000"/>
              </a:lnSpc>
              <a:spcBef>
                <a:spcPts val="0"/>
              </a:spcBef>
              <a:spcAft>
                <a:spcPts val="0"/>
              </a:spcAft>
              <a:buSzPts val="6400"/>
              <a:buChar char="■"/>
              <a:defRPr sz="4157"/>
            </a:lvl3pPr>
            <a:lvl4pPr marL="1187988" lvl="3" indent="-412496" algn="l">
              <a:lnSpc>
                <a:spcPct val="115000"/>
              </a:lnSpc>
              <a:spcBef>
                <a:spcPts val="0"/>
              </a:spcBef>
              <a:spcAft>
                <a:spcPts val="0"/>
              </a:spcAft>
              <a:buSzPts val="6400"/>
              <a:buChar char="●"/>
              <a:defRPr sz="4157"/>
            </a:lvl4pPr>
            <a:lvl5pPr marL="1484986" lvl="4" indent="-412496" algn="l">
              <a:lnSpc>
                <a:spcPct val="115000"/>
              </a:lnSpc>
              <a:spcBef>
                <a:spcPts val="0"/>
              </a:spcBef>
              <a:spcAft>
                <a:spcPts val="0"/>
              </a:spcAft>
              <a:buSzPts val="6400"/>
              <a:buChar char="○"/>
              <a:defRPr sz="4157"/>
            </a:lvl5pPr>
            <a:lvl6pPr marL="1781983" lvl="5" indent="-412496" algn="l">
              <a:lnSpc>
                <a:spcPct val="115000"/>
              </a:lnSpc>
              <a:spcBef>
                <a:spcPts val="0"/>
              </a:spcBef>
              <a:spcAft>
                <a:spcPts val="0"/>
              </a:spcAft>
              <a:buSzPts val="6400"/>
              <a:buChar char="■"/>
              <a:defRPr sz="4157"/>
            </a:lvl6pPr>
            <a:lvl7pPr marL="2078980" lvl="6" indent="-412496" algn="l">
              <a:lnSpc>
                <a:spcPct val="115000"/>
              </a:lnSpc>
              <a:spcBef>
                <a:spcPts val="0"/>
              </a:spcBef>
              <a:spcAft>
                <a:spcPts val="0"/>
              </a:spcAft>
              <a:buSzPts val="6400"/>
              <a:buChar char="●"/>
              <a:defRPr sz="4157"/>
            </a:lvl7pPr>
            <a:lvl8pPr marL="2375977" lvl="7" indent="-412496" algn="l">
              <a:lnSpc>
                <a:spcPct val="115000"/>
              </a:lnSpc>
              <a:spcBef>
                <a:spcPts val="0"/>
              </a:spcBef>
              <a:spcAft>
                <a:spcPts val="0"/>
              </a:spcAft>
              <a:buSzPts val="6400"/>
              <a:buChar char="○"/>
              <a:defRPr sz="4157"/>
            </a:lvl8pPr>
            <a:lvl9pPr marL="2672974" lvl="8" indent="-412496" algn="l">
              <a:lnSpc>
                <a:spcPct val="115000"/>
              </a:lnSpc>
              <a:spcBef>
                <a:spcPts val="0"/>
              </a:spcBef>
              <a:spcAft>
                <a:spcPts val="0"/>
              </a:spcAft>
              <a:buSzPts val="6400"/>
              <a:buChar char="■"/>
              <a:defRPr sz="4157"/>
            </a:lvl9pPr>
          </a:lstStyle>
          <a:p>
            <a:endParaRPr/>
          </a:p>
        </p:txBody>
      </p:sp>
      <p:sp>
        <p:nvSpPr>
          <p:cNvPr id="25" name="Google Shape;25;p5"/>
          <p:cNvSpPr txBox="1">
            <a:spLocks noGrp="1"/>
          </p:cNvSpPr>
          <p:nvPr>
            <p:ph type="body" idx="2"/>
          </p:nvPr>
        </p:nvSpPr>
        <p:spPr>
          <a:xfrm>
            <a:off x="15999776" y="4791308"/>
            <a:ext cx="13243336" cy="14203328"/>
          </a:xfrm>
          <a:prstGeom prst="rect">
            <a:avLst/>
          </a:prstGeom>
          <a:noFill/>
          <a:ln>
            <a:noFill/>
          </a:ln>
        </p:spPr>
        <p:txBody>
          <a:bodyPr spcFirstLastPara="1" wrap="square" lIns="487600" tIns="487600" rIns="487600" bIns="487600" anchor="t" anchorCtr="0">
            <a:normAutofit/>
          </a:bodyPr>
          <a:lstStyle>
            <a:lvl1pPr marL="296997" lvl="0" indent="-457871" algn="l">
              <a:lnSpc>
                <a:spcPct val="115000"/>
              </a:lnSpc>
              <a:spcBef>
                <a:spcPts val="0"/>
              </a:spcBef>
              <a:spcAft>
                <a:spcPts val="0"/>
              </a:spcAft>
              <a:buSzPts val="7500"/>
              <a:buChar char="●"/>
              <a:defRPr sz="4872"/>
            </a:lvl1pPr>
            <a:lvl2pPr marL="593994" lvl="1" indent="-412496" algn="l">
              <a:lnSpc>
                <a:spcPct val="115000"/>
              </a:lnSpc>
              <a:spcBef>
                <a:spcPts val="0"/>
              </a:spcBef>
              <a:spcAft>
                <a:spcPts val="0"/>
              </a:spcAft>
              <a:buSzPts val="6400"/>
              <a:buChar char="○"/>
              <a:defRPr sz="4157"/>
            </a:lvl2pPr>
            <a:lvl3pPr marL="890991" lvl="2" indent="-412496" algn="l">
              <a:lnSpc>
                <a:spcPct val="115000"/>
              </a:lnSpc>
              <a:spcBef>
                <a:spcPts val="0"/>
              </a:spcBef>
              <a:spcAft>
                <a:spcPts val="0"/>
              </a:spcAft>
              <a:buSzPts val="6400"/>
              <a:buChar char="■"/>
              <a:defRPr sz="4157"/>
            </a:lvl3pPr>
            <a:lvl4pPr marL="1187988" lvl="3" indent="-412496" algn="l">
              <a:lnSpc>
                <a:spcPct val="115000"/>
              </a:lnSpc>
              <a:spcBef>
                <a:spcPts val="0"/>
              </a:spcBef>
              <a:spcAft>
                <a:spcPts val="0"/>
              </a:spcAft>
              <a:buSzPts val="6400"/>
              <a:buChar char="●"/>
              <a:defRPr sz="4157"/>
            </a:lvl4pPr>
            <a:lvl5pPr marL="1484986" lvl="4" indent="-412496" algn="l">
              <a:lnSpc>
                <a:spcPct val="115000"/>
              </a:lnSpc>
              <a:spcBef>
                <a:spcPts val="0"/>
              </a:spcBef>
              <a:spcAft>
                <a:spcPts val="0"/>
              </a:spcAft>
              <a:buSzPts val="6400"/>
              <a:buChar char="○"/>
              <a:defRPr sz="4157"/>
            </a:lvl5pPr>
            <a:lvl6pPr marL="1781983" lvl="5" indent="-412496" algn="l">
              <a:lnSpc>
                <a:spcPct val="115000"/>
              </a:lnSpc>
              <a:spcBef>
                <a:spcPts val="0"/>
              </a:spcBef>
              <a:spcAft>
                <a:spcPts val="0"/>
              </a:spcAft>
              <a:buSzPts val="6400"/>
              <a:buChar char="■"/>
              <a:defRPr sz="4157"/>
            </a:lvl6pPr>
            <a:lvl7pPr marL="2078980" lvl="6" indent="-412496" algn="l">
              <a:lnSpc>
                <a:spcPct val="115000"/>
              </a:lnSpc>
              <a:spcBef>
                <a:spcPts val="0"/>
              </a:spcBef>
              <a:spcAft>
                <a:spcPts val="0"/>
              </a:spcAft>
              <a:buSzPts val="6400"/>
              <a:buChar char="●"/>
              <a:defRPr sz="4157"/>
            </a:lvl7pPr>
            <a:lvl8pPr marL="2375977" lvl="7" indent="-412496" algn="l">
              <a:lnSpc>
                <a:spcPct val="115000"/>
              </a:lnSpc>
              <a:spcBef>
                <a:spcPts val="0"/>
              </a:spcBef>
              <a:spcAft>
                <a:spcPts val="0"/>
              </a:spcAft>
              <a:buSzPts val="6400"/>
              <a:buChar char="○"/>
              <a:defRPr sz="4157"/>
            </a:lvl8pPr>
            <a:lvl9pPr marL="2672974" lvl="8" indent="-412496" algn="l">
              <a:lnSpc>
                <a:spcPct val="115000"/>
              </a:lnSpc>
              <a:spcBef>
                <a:spcPts val="0"/>
              </a:spcBef>
              <a:spcAft>
                <a:spcPts val="0"/>
              </a:spcAft>
              <a:buSzPts val="6400"/>
              <a:buChar char="■"/>
              <a:defRPr sz="4157"/>
            </a:lvl9pPr>
          </a:lstStyle>
          <a:p>
            <a:endParaRPr/>
          </a:p>
        </p:txBody>
      </p:sp>
      <p:sp>
        <p:nvSpPr>
          <p:cNvPr id="26" name="Google Shape;26;p5"/>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a:endParaRPr/>
          </a:p>
        </p:txBody>
      </p:sp>
      <p:sp>
        <p:nvSpPr>
          <p:cNvPr id="29" name="Google Shape;29;p6"/>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7"/>
          <p:cNvSpPr txBox="1">
            <a:spLocks noGrp="1"/>
          </p:cNvSpPr>
          <p:nvPr>
            <p:ph type="title"/>
          </p:nvPr>
        </p:nvSpPr>
        <p:spPr>
          <a:xfrm>
            <a:off x="1032021" y="2309855"/>
            <a:ext cx="9297113" cy="3141831"/>
          </a:xfrm>
          <a:prstGeom prst="rect">
            <a:avLst/>
          </a:prstGeom>
          <a:noFill/>
          <a:ln>
            <a:noFill/>
          </a:ln>
        </p:spPr>
        <p:txBody>
          <a:bodyPr spcFirstLastPara="1" wrap="square" lIns="487600" tIns="487600" rIns="487600" bIns="487600" anchor="b" anchorCtr="0">
            <a:normAutofit/>
          </a:bodyPr>
          <a:lstStyle>
            <a:lvl1pPr lvl="0" algn="l">
              <a:lnSpc>
                <a:spcPct val="100000"/>
              </a:lnSpc>
              <a:spcBef>
                <a:spcPts val="0"/>
              </a:spcBef>
              <a:spcAft>
                <a:spcPts val="0"/>
              </a:spcAft>
              <a:buSzPts val="12800"/>
              <a:buNone/>
              <a:defRPr sz="8315"/>
            </a:lvl1pPr>
            <a:lvl2pPr lvl="1" algn="l">
              <a:lnSpc>
                <a:spcPct val="100000"/>
              </a:lnSpc>
              <a:spcBef>
                <a:spcPts val="0"/>
              </a:spcBef>
              <a:spcAft>
                <a:spcPts val="0"/>
              </a:spcAft>
              <a:buSzPts val="12800"/>
              <a:buNone/>
              <a:defRPr sz="8315"/>
            </a:lvl2pPr>
            <a:lvl3pPr lvl="2" algn="l">
              <a:lnSpc>
                <a:spcPct val="100000"/>
              </a:lnSpc>
              <a:spcBef>
                <a:spcPts val="0"/>
              </a:spcBef>
              <a:spcAft>
                <a:spcPts val="0"/>
              </a:spcAft>
              <a:buSzPts val="12800"/>
              <a:buNone/>
              <a:defRPr sz="8315"/>
            </a:lvl3pPr>
            <a:lvl4pPr lvl="3" algn="l">
              <a:lnSpc>
                <a:spcPct val="100000"/>
              </a:lnSpc>
              <a:spcBef>
                <a:spcPts val="0"/>
              </a:spcBef>
              <a:spcAft>
                <a:spcPts val="0"/>
              </a:spcAft>
              <a:buSzPts val="12800"/>
              <a:buNone/>
              <a:defRPr sz="8315"/>
            </a:lvl4pPr>
            <a:lvl5pPr lvl="4" algn="l">
              <a:lnSpc>
                <a:spcPct val="100000"/>
              </a:lnSpc>
              <a:spcBef>
                <a:spcPts val="0"/>
              </a:spcBef>
              <a:spcAft>
                <a:spcPts val="0"/>
              </a:spcAft>
              <a:buSzPts val="12800"/>
              <a:buNone/>
              <a:defRPr sz="8315"/>
            </a:lvl5pPr>
            <a:lvl6pPr lvl="5" algn="l">
              <a:lnSpc>
                <a:spcPct val="100000"/>
              </a:lnSpc>
              <a:spcBef>
                <a:spcPts val="0"/>
              </a:spcBef>
              <a:spcAft>
                <a:spcPts val="0"/>
              </a:spcAft>
              <a:buSzPts val="12800"/>
              <a:buNone/>
              <a:defRPr sz="8315"/>
            </a:lvl6pPr>
            <a:lvl7pPr lvl="6" algn="l">
              <a:lnSpc>
                <a:spcPct val="100000"/>
              </a:lnSpc>
              <a:spcBef>
                <a:spcPts val="0"/>
              </a:spcBef>
              <a:spcAft>
                <a:spcPts val="0"/>
              </a:spcAft>
              <a:buSzPts val="12800"/>
              <a:buNone/>
              <a:defRPr sz="8315"/>
            </a:lvl7pPr>
            <a:lvl8pPr lvl="7" algn="l">
              <a:lnSpc>
                <a:spcPct val="100000"/>
              </a:lnSpc>
              <a:spcBef>
                <a:spcPts val="0"/>
              </a:spcBef>
              <a:spcAft>
                <a:spcPts val="0"/>
              </a:spcAft>
              <a:buSzPts val="12800"/>
              <a:buNone/>
              <a:defRPr sz="8315"/>
            </a:lvl8pPr>
            <a:lvl9pPr lvl="8" algn="l">
              <a:lnSpc>
                <a:spcPct val="100000"/>
              </a:lnSpc>
              <a:spcBef>
                <a:spcPts val="0"/>
              </a:spcBef>
              <a:spcAft>
                <a:spcPts val="0"/>
              </a:spcAft>
              <a:buSzPts val="12800"/>
              <a:buNone/>
              <a:defRPr sz="8315"/>
            </a:lvl9pPr>
          </a:lstStyle>
          <a:p>
            <a:endParaRPr/>
          </a:p>
        </p:txBody>
      </p:sp>
      <p:sp>
        <p:nvSpPr>
          <p:cNvPr id="32" name="Google Shape;32;p7"/>
          <p:cNvSpPr txBox="1">
            <a:spLocks noGrp="1"/>
          </p:cNvSpPr>
          <p:nvPr>
            <p:ph type="body" idx="1"/>
          </p:nvPr>
        </p:nvSpPr>
        <p:spPr>
          <a:xfrm>
            <a:off x="1032021" y="5777133"/>
            <a:ext cx="9297113" cy="13218022"/>
          </a:xfrm>
          <a:prstGeom prst="rect">
            <a:avLst/>
          </a:prstGeom>
          <a:noFill/>
          <a:ln>
            <a:noFill/>
          </a:ln>
        </p:spPr>
        <p:txBody>
          <a:bodyPr spcFirstLastPara="1" wrap="square" lIns="487600" tIns="487600" rIns="487600" bIns="487600" anchor="t" anchorCtr="0">
            <a:normAutofit/>
          </a:bodyPr>
          <a:lstStyle>
            <a:lvl1pPr marL="296997" lvl="0" indent="-412496" algn="l">
              <a:lnSpc>
                <a:spcPct val="115000"/>
              </a:lnSpc>
              <a:spcBef>
                <a:spcPts val="0"/>
              </a:spcBef>
              <a:spcAft>
                <a:spcPts val="0"/>
              </a:spcAft>
              <a:buSzPts val="6400"/>
              <a:buChar char="●"/>
              <a:defRPr sz="4157"/>
            </a:lvl1pPr>
            <a:lvl2pPr marL="593994" lvl="1" indent="-412496" algn="l">
              <a:lnSpc>
                <a:spcPct val="115000"/>
              </a:lnSpc>
              <a:spcBef>
                <a:spcPts val="0"/>
              </a:spcBef>
              <a:spcAft>
                <a:spcPts val="0"/>
              </a:spcAft>
              <a:buSzPts val="6400"/>
              <a:buChar char="○"/>
              <a:defRPr sz="4157"/>
            </a:lvl2pPr>
            <a:lvl3pPr marL="890991" lvl="2" indent="-412496" algn="l">
              <a:lnSpc>
                <a:spcPct val="115000"/>
              </a:lnSpc>
              <a:spcBef>
                <a:spcPts val="0"/>
              </a:spcBef>
              <a:spcAft>
                <a:spcPts val="0"/>
              </a:spcAft>
              <a:buSzPts val="6400"/>
              <a:buChar char="■"/>
              <a:defRPr sz="4157"/>
            </a:lvl3pPr>
            <a:lvl4pPr marL="1187988" lvl="3" indent="-412496" algn="l">
              <a:lnSpc>
                <a:spcPct val="115000"/>
              </a:lnSpc>
              <a:spcBef>
                <a:spcPts val="0"/>
              </a:spcBef>
              <a:spcAft>
                <a:spcPts val="0"/>
              </a:spcAft>
              <a:buSzPts val="6400"/>
              <a:buChar char="●"/>
              <a:defRPr sz="4157"/>
            </a:lvl4pPr>
            <a:lvl5pPr marL="1484986" lvl="4" indent="-412496" algn="l">
              <a:lnSpc>
                <a:spcPct val="115000"/>
              </a:lnSpc>
              <a:spcBef>
                <a:spcPts val="0"/>
              </a:spcBef>
              <a:spcAft>
                <a:spcPts val="0"/>
              </a:spcAft>
              <a:buSzPts val="6400"/>
              <a:buChar char="○"/>
              <a:defRPr sz="4157"/>
            </a:lvl5pPr>
            <a:lvl6pPr marL="1781983" lvl="5" indent="-412496" algn="l">
              <a:lnSpc>
                <a:spcPct val="115000"/>
              </a:lnSpc>
              <a:spcBef>
                <a:spcPts val="0"/>
              </a:spcBef>
              <a:spcAft>
                <a:spcPts val="0"/>
              </a:spcAft>
              <a:buSzPts val="6400"/>
              <a:buChar char="■"/>
              <a:defRPr sz="4157"/>
            </a:lvl6pPr>
            <a:lvl7pPr marL="2078980" lvl="6" indent="-412496" algn="l">
              <a:lnSpc>
                <a:spcPct val="115000"/>
              </a:lnSpc>
              <a:spcBef>
                <a:spcPts val="0"/>
              </a:spcBef>
              <a:spcAft>
                <a:spcPts val="0"/>
              </a:spcAft>
              <a:buSzPts val="6400"/>
              <a:buChar char="●"/>
              <a:defRPr sz="4157"/>
            </a:lvl7pPr>
            <a:lvl8pPr marL="2375977" lvl="7" indent="-412496" algn="l">
              <a:lnSpc>
                <a:spcPct val="115000"/>
              </a:lnSpc>
              <a:spcBef>
                <a:spcPts val="0"/>
              </a:spcBef>
              <a:spcAft>
                <a:spcPts val="0"/>
              </a:spcAft>
              <a:buSzPts val="6400"/>
              <a:buChar char="○"/>
              <a:defRPr sz="4157"/>
            </a:lvl8pPr>
            <a:lvl9pPr marL="2672974" lvl="8" indent="-412496" algn="l">
              <a:lnSpc>
                <a:spcPct val="115000"/>
              </a:lnSpc>
              <a:spcBef>
                <a:spcPts val="0"/>
              </a:spcBef>
              <a:spcAft>
                <a:spcPts val="0"/>
              </a:spcAft>
              <a:buSzPts val="6400"/>
              <a:buChar char="■"/>
              <a:defRPr sz="4157"/>
            </a:lvl9pPr>
          </a:lstStyle>
          <a:p>
            <a:endParaRPr/>
          </a:p>
        </p:txBody>
      </p:sp>
      <p:sp>
        <p:nvSpPr>
          <p:cNvPr id="33" name="Google Shape;33;p7"/>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1623188" y="1871457"/>
            <a:ext cx="21083430" cy="17007044"/>
          </a:xfrm>
          <a:prstGeom prst="rect">
            <a:avLst/>
          </a:prstGeom>
          <a:noFill/>
          <a:ln>
            <a:noFill/>
          </a:ln>
        </p:spPr>
        <p:txBody>
          <a:bodyPr spcFirstLastPara="1" wrap="square" lIns="487600" tIns="487600" rIns="487600" bIns="487600" anchor="ctr" anchorCtr="0">
            <a:normAutofit/>
          </a:bodyPr>
          <a:lstStyle>
            <a:lvl1pPr lvl="0" algn="l">
              <a:lnSpc>
                <a:spcPct val="100000"/>
              </a:lnSpc>
              <a:spcBef>
                <a:spcPts val="0"/>
              </a:spcBef>
              <a:spcAft>
                <a:spcPts val="0"/>
              </a:spcAft>
              <a:buSzPts val="25600"/>
              <a:buNone/>
              <a:defRPr sz="16630"/>
            </a:lvl1pPr>
            <a:lvl2pPr lvl="1" algn="l">
              <a:lnSpc>
                <a:spcPct val="100000"/>
              </a:lnSpc>
              <a:spcBef>
                <a:spcPts val="0"/>
              </a:spcBef>
              <a:spcAft>
                <a:spcPts val="0"/>
              </a:spcAft>
              <a:buSzPts val="25600"/>
              <a:buNone/>
              <a:defRPr sz="16630"/>
            </a:lvl2pPr>
            <a:lvl3pPr lvl="2" algn="l">
              <a:lnSpc>
                <a:spcPct val="100000"/>
              </a:lnSpc>
              <a:spcBef>
                <a:spcPts val="0"/>
              </a:spcBef>
              <a:spcAft>
                <a:spcPts val="0"/>
              </a:spcAft>
              <a:buSzPts val="25600"/>
              <a:buNone/>
              <a:defRPr sz="16630"/>
            </a:lvl3pPr>
            <a:lvl4pPr lvl="3" algn="l">
              <a:lnSpc>
                <a:spcPct val="100000"/>
              </a:lnSpc>
              <a:spcBef>
                <a:spcPts val="0"/>
              </a:spcBef>
              <a:spcAft>
                <a:spcPts val="0"/>
              </a:spcAft>
              <a:buSzPts val="25600"/>
              <a:buNone/>
              <a:defRPr sz="16630"/>
            </a:lvl4pPr>
            <a:lvl5pPr lvl="4" algn="l">
              <a:lnSpc>
                <a:spcPct val="100000"/>
              </a:lnSpc>
              <a:spcBef>
                <a:spcPts val="0"/>
              </a:spcBef>
              <a:spcAft>
                <a:spcPts val="0"/>
              </a:spcAft>
              <a:buSzPts val="25600"/>
              <a:buNone/>
              <a:defRPr sz="16630"/>
            </a:lvl5pPr>
            <a:lvl6pPr lvl="5" algn="l">
              <a:lnSpc>
                <a:spcPct val="100000"/>
              </a:lnSpc>
              <a:spcBef>
                <a:spcPts val="0"/>
              </a:spcBef>
              <a:spcAft>
                <a:spcPts val="0"/>
              </a:spcAft>
              <a:buSzPts val="25600"/>
              <a:buNone/>
              <a:defRPr sz="16630"/>
            </a:lvl6pPr>
            <a:lvl7pPr lvl="6" algn="l">
              <a:lnSpc>
                <a:spcPct val="100000"/>
              </a:lnSpc>
              <a:spcBef>
                <a:spcPts val="0"/>
              </a:spcBef>
              <a:spcAft>
                <a:spcPts val="0"/>
              </a:spcAft>
              <a:buSzPts val="25600"/>
              <a:buNone/>
              <a:defRPr sz="16630"/>
            </a:lvl7pPr>
            <a:lvl8pPr lvl="7" algn="l">
              <a:lnSpc>
                <a:spcPct val="100000"/>
              </a:lnSpc>
              <a:spcBef>
                <a:spcPts val="0"/>
              </a:spcBef>
              <a:spcAft>
                <a:spcPts val="0"/>
              </a:spcAft>
              <a:buSzPts val="25600"/>
              <a:buNone/>
              <a:defRPr sz="16630"/>
            </a:lvl8pPr>
            <a:lvl9pPr lvl="8" algn="l">
              <a:lnSpc>
                <a:spcPct val="100000"/>
              </a:lnSpc>
              <a:spcBef>
                <a:spcPts val="0"/>
              </a:spcBef>
              <a:spcAft>
                <a:spcPts val="0"/>
              </a:spcAft>
              <a:buSzPts val="25600"/>
              <a:buNone/>
              <a:defRPr sz="16630"/>
            </a:lvl9pPr>
          </a:lstStyle>
          <a:p>
            <a:endParaRPr/>
          </a:p>
        </p:txBody>
      </p:sp>
      <p:sp>
        <p:nvSpPr>
          <p:cNvPr id="36" name="Google Shape;36;p8"/>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15137608" y="-520"/>
            <a:ext cx="15137607" cy="21383625"/>
          </a:xfrm>
          <a:prstGeom prst="rect">
            <a:avLst/>
          </a:prstGeom>
          <a:solidFill>
            <a:schemeClr val="lt2"/>
          </a:solidFill>
          <a:ln>
            <a:noFill/>
          </a:ln>
        </p:spPr>
        <p:txBody>
          <a:bodyPr spcFirstLastPara="1" wrap="square" lIns="316742" tIns="316742" rIns="316742" bIns="316742"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909" b="0" i="0" u="none" strike="noStrike" cap="none">
              <a:solidFill>
                <a:srgbClr val="000000"/>
              </a:solidFill>
              <a:latin typeface="Arial"/>
              <a:ea typeface="Arial"/>
              <a:cs typeface="Arial"/>
              <a:sym typeface="Arial"/>
            </a:endParaRPr>
          </a:p>
        </p:txBody>
      </p:sp>
      <p:sp>
        <p:nvSpPr>
          <p:cNvPr id="39" name="Google Shape;39;p9"/>
          <p:cNvSpPr txBox="1">
            <a:spLocks noGrp="1"/>
          </p:cNvSpPr>
          <p:nvPr>
            <p:ph type="title"/>
          </p:nvPr>
        </p:nvSpPr>
        <p:spPr>
          <a:xfrm>
            <a:off x="879055" y="5126812"/>
            <a:ext cx="13393363" cy="6162447"/>
          </a:xfrm>
          <a:prstGeom prst="rect">
            <a:avLst/>
          </a:prstGeom>
          <a:noFill/>
          <a:ln>
            <a:noFill/>
          </a:ln>
        </p:spPr>
        <p:txBody>
          <a:bodyPr spcFirstLastPara="1" wrap="square" lIns="487600" tIns="487600" rIns="487600" bIns="487600" anchor="b" anchorCtr="0">
            <a:normAutofit/>
          </a:bodyPr>
          <a:lstStyle>
            <a:lvl1pPr lvl="0" algn="ctr">
              <a:lnSpc>
                <a:spcPct val="100000"/>
              </a:lnSpc>
              <a:spcBef>
                <a:spcPts val="0"/>
              </a:spcBef>
              <a:spcAft>
                <a:spcPts val="0"/>
              </a:spcAft>
              <a:buSzPts val="22400"/>
              <a:buNone/>
              <a:defRPr sz="14551"/>
            </a:lvl1pPr>
            <a:lvl2pPr lvl="1" algn="ctr">
              <a:lnSpc>
                <a:spcPct val="100000"/>
              </a:lnSpc>
              <a:spcBef>
                <a:spcPts val="0"/>
              </a:spcBef>
              <a:spcAft>
                <a:spcPts val="0"/>
              </a:spcAft>
              <a:buSzPts val="22400"/>
              <a:buNone/>
              <a:defRPr sz="14551"/>
            </a:lvl2pPr>
            <a:lvl3pPr lvl="2" algn="ctr">
              <a:lnSpc>
                <a:spcPct val="100000"/>
              </a:lnSpc>
              <a:spcBef>
                <a:spcPts val="0"/>
              </a:spcBef>
              <a:spcAft>
                <a:spcPts val="0"/>
              </a:spcAft>
              <a:buSzPts val="22400"/>
              <a:buNone/>
              <a:defRPr sz="14551"/>
            </a:lvl3pPr>
            <a:lvl4pPr lvl="3" algn="ctr">
              <a:lnSpc>
                <a:spcPct val="100000"/>
              </a:lnSpc>
              <a:spcBef>
                <a:spcPts val="0"/>
              </a:spcBef>
              <a:spcAft>
                <a:spcPts val="0"/>
              </a:spcAft>
              <a:buSzPts val="22400"/>
              <a:buNone/>
              <a:defRPr sz="14551"/>
            </a:lvl4pPr>
            <a:lvl5pPr lvl="4" algn="ctr">
              <a:lnSpc>
                <a:spcPct val="100000"/>
              </a:lnSpc>
              <a:spcBef>
                <a:spcPts val="0"/>
              </a:spcBef>
              <a:spcAft>
                <a:spcPts val="0"/>
              </a:spcAft>
              <a:buSzPts val="22400"/>
              <a:buNone/>
              <a:defRPr sz="14551"/>
            </a:lvl5pPr>
            <a:lvl6pPr lvl="5" algn="ctr">
              <a:lnSpc>
                <a:spcPct val="100000"/>
              </a:lnSpc>
              <a:spcBef>
                <a:spcPts val="0"/>
              </a:spcBef>
              <a:spcAft>
                <a:spcPts val="0"/>
              </a:spcAft>
              <a:buSzPts val="22400"/>
              <a:buNone/>
              <a:defRPr sz="14551"/>
            </a:lvl6pPr>
            <a:lvl7pPr lvl="6" algn="ctr">
              <a:lnSpc>
                <a:spcPct val="100000"/>
              </a:lnSpc>
              <a:spcBef>
                <a:spcPts val="0"/>
              </a:spcBef>
              <a:spcAft>
                <a:spcPts val="0"/>
              </a:spcAft>
              <a:buSzPts val="22400"/>
              <a:buNone/>
              <a:defRPr sz="14551"/>
            </a:lvl7pPr>
            <a:lvl8pPr lvl="7" algn="ctr">
              <a:lnSpc>
                <a:spcPct val="100000"/>
              </a:lnSpc>
              <a:spcBef>
                <a:spcPts val="0"/>
              </a:spcBef>
              <a:spcAft>
                <a:spcPts val="0"/>
              </a:spcAft>
              <a:buSzPts val="22400"/>
              <a:buNone/>
              <a:defRPr sz="14551"/>
            </a:lvl8pPr>
            <a:lvl9pPr lvl="8" algn="ctr">
              <a:lnSpc>
                <a:spcPct val="100000"/>
              </a:lnSpc>
              <a:spcBef>
                <a:spcPts val="0"/>
              </a:spcBef>
              <a:spcAft>
                <a:spcPts val="0"/>
              </a:spcAft>
              <a:buSzPts val="22400"/>
              <a:buNone/>
              <a:defRPr sz="14551"/>
            </a:lvl9pPr>
          </a:lstStyle>
          <a:p>
            <a:endParaRPr/>
          </a:p>
        </p:txBody>
      </p:sp>
      <p:sp>
        <p:nvSpPr>
          <p:cNvPr id="40" name="Google Shape;40;p9"/>
          <p:cNvSpPr txBox="1">
            <a:spLocks noGrp="1"/>
          </p:cNvSpPr>
          <p:nvPr>
            <p:ph type="subTitle" idx="1"/>
          </p:nvPr>
        </p:nvSpPr>
        <p:spPr>
          <a:xfrm>
            <a:off x="879055" y="11653525"/>
            <a:ext cx="13393363" cy="5134853"/>
          </a:xfrm>
          <a:prstGeom prst="rect">
            <a:avLst/>
          </a:prstGeom>
          <a:noFill/>
          <a:ln>
            <a:noFill/>
          </a:ln>
        </p:spPr>
        <p:txBody>
          <a:bodyPr spcFirstLastPara="1" wrap="square" lIns="487600" tIns="487600" rIns="487600" bIns="487600" anchor="t" anchorCtr="0">
            <a:normAutofit/>
          </a:bodyPr>
          <a:lstStyle>
            <a:lvl1pPr lvl="0" algn="ctr">
              <a:lnSpc>
                <a:spcPct val="100000"/>
              </a:lnSpc>
              <a:spcBef>
                <a:spcPts val="0"/>
              </a:spcBef>
              <a:spcAft>
                <a:spcPts val="0"/>
              </a:spcAft>
              <a:buSzPts val="11200"/>
              <a:buNone/>
              <a:defRPr sz="7276"/>
            </a:lvl1pPr>
            <a:lvl2pPr lvl="1" algn="ctr">
              <a:lnSpc>
                <a:spcPct val="100000"/>
              </a:lnSpc>
              <a:spcBef>
                <a:spcPts val="0"/>
              </a:spcBef>
              <a:spcAft>
                <a:spcPts val="0"/>
              </a:spcAft>
              <a:buSzPts val="11200"/>
              <a:buNone/>
              <a:defRPr sz="7276"/>
            </a:lvl2pPr>
            <a:lvl3pPr lvl="2" algn="ctr">
              <a:lnSpc>
                <a:spcPct val="100000"/>
              </a:lnSpc>
              <a:spcBef>
                <a:spcPts val="0"/>
              </a:spcBef>
              <a:spcAft>
                <a:spcPts val="0"/>
              </a:spcAft>
              <a:buSzPts val="11200"/>
              <a:buNone/>
              <a:defRPr sz="7276"/>
            </a:lvl3pPr>
            <a:lvl4pPr lvl="3" algn="ctr">
              <a:lnSpc>
                <a:spcPct val="100000"/>
              </a:lnSpc>
              <a:spcBef>
                <a:spcPts val="0"/>
              </a:spcBef>
              <a:spcAft>
                <a:spcPts val="0"/>
              </a:spcAft>
              <a:buSzPts val="11200"/>
              <a:buNone/>
              <a:defRPr sz="7276"/>
            </a:lvl4pPr>
            <a:lvl5pPr lvl="4" algn="ctr">
              <a:lnSpc>
                <a:spcPct val="100000"/>
              </a:lnSpc>
              <a:spcBef>
                <a:spcPts val="0"/>
              </a:spcBef>
              <a:spcAft>
                <a:spcPts val="0"/>
              </a:spcAft>
              <a:buSzPts val="11200"/>
              <a:buNone/>
              <a:defRPr sz="7276"/>
            </a:lvl5pPr>
            <a:lvl6pPr lvl="5" algn="ctr">
              <a:lnSpc>
                <a:spcPct val="100000"/>
              </a:lnSpc>
              <a:spcBef>
                <a:spcPts val="0"/>
              </a:spcBef>
              <a:spcAft>
                <a:spcPts val="0"/>
              </a:spcAft>
              <a:buSzPts val="11200"/>
              <a:buNone/>
              <a:defRPr sz="7276"/>
            </a:lvl6pPr>
            <a:lvl7pPr lvl="6" algn="ctr">
              <a:lnSpc>
                <a:spcPct val="100000"/>
              </a:lnSpc>
              <a:spcBef>
                <a:spcPts val="0"/>
              </a:spcBef>
              <a:spcAft>
                <a:spcPts val="0"/>
              </a:spcAft>
              <a:buSzPts val="11200"/>
              <a:buNone/>
              <a:defRPr sz="7276"/>
            </a:lvl7pPr>
            <a:lvl8pPr lvl="7" algn="ctr">
              <a:lnSpc>
                <a:spcPct val="100000"/>
              </a:lnSpc>
              <a:spcBef>
                <a:spcPts val="0"/>
              </a:spcBef>
              <a:spcAft>
                <a:spcPts val="0"/>
              </a:spcAft>
              <a:buSzPts val="11200"/>
              <a:buNone/>
              <a:defRPr sz="7276"/>
            </a:lvl8pPr>
            <a:lvl9pPr lvl="8" algn="ctr">
              <a:lnSpc>
                <a:spcPct val="100000"/>
              </a:lnSpc>
              <a:spcBef>
                <a:spcPts val="0"/>
              </a:spcBef>
              <a:spcAft>
                <a:spcPts val="0"/>
              </a:spcAft>
              <a:buSzPts val="11200"/>
              <a:buNone/>
              <a:defRPr sz="7276"/>
            </a:lvl9pPr>
          </a:lstStyle>
          <a:p>
            <a:endParaRPr/>
          </a:p>
        </p:txBody>
      </p:sp>
      <p:sp>
        <p:nvSpPr>
          <p:cNvPr id="41" name="Google Shape;41;p9"/>
          <p:cNvSpPr txBox="1">
            <a:spLocks noGrp="1"/>
          </p:cNvSpPr>
          <p:nvPr>
            <p:ph type="body" idx="2"/>
          </p:nvPr>
        </p:nvSpPr>
        <p:spPr>
          <a:xfrm>
            <a:off x="16354378" y="3010275"/>
            <a:ext cx="12704067" cy="15362075"/>
          </a:xfrm>
          <a:prstGeom prst="rect">
            <a:avLst/>
          </a:prstGeom>
          <a:noFill/>
          <a:ln>
            <a:noFill/>
          </a:ln>
        </p:spPr>
        <p:txBody>
          <a:bodyPr spcFirstLastPara="1" wrap="square" lIns="487600" tIns="487600" rIns="487600" bIns="487600" anchor="ctr" anchorCtr="0">
            <a:normAutofit/>
          </a:bodyPr>
          <a:lstStyle>
            <a:lvl1pPr marL="296997" lvl="0" indent="-544495" algn="l">
              <a:lnSpc>
                <a:spcPct val="115000"/>
              </a:lnSpc>
              <a:spcBef>
                <a:spcPts val="0"/>
              </a:spcBef>
              <a:spcAft>
                <a:spcPts val="0"/>
              </a:spcAft>
              <a:buSzPts val="9600"/>
              <a:buChar char="●"/>
              <a:defRPr/>
            </a:lvl1pPr>
            <a:lvl2pPr marL="593994" lvl="1" indent="-457871" algn="l">
              <a:lnSpc>
                <a:spcPct val="115000"/>
              </a:lnSpc>
              <a:spcBef>
                <a:spcPts val="0"/>
              </a:spcBef>
              <a:spcAft>
                <a:spcPts val="0"/>
              </a:spcAft>
              <a:buSzPts val="7500"/>
              <a:buChar char="○"/>
              <a:defRPr/>
            </a:lvl2pPr>
            <a:lvl3pPr marL="890991" lvl="2" indent="-457871" algn="l">
              <a:lnSpc>
                <a:spcPct val="115000"/>
              </a:lnSpc>
              <a:spcBef>
                <a:spcPts val="0"/>
              </a:spcBef>
              <a:spcAft>
                <a:spcPts val="0"/>
              </a:spcAft>
              <a:buSzPts val="7500"/>
              <a:buChar char="■"/>
              <a:defRPr/>
            </a:lvl3pPr>
            <a:lvl4pPr marL="1187988" lvl="3" indent="-457871" algn="l">
              <a:lnSpc>
                <a:spcPct val="115000"/>
              </a:lnSpc>
              <a:spcBef>
                <a:spcPts val="0"/>
              </a:spcBef>
              <a:spcAft>
                <a:spcPts val="0"/>
              </a:spcAft>
              <a:buSzPts val="7500"/>
              <a:buChar char="●"/>
              <a:defRPr/>
            </a:lvl4pPr>
            <a:lvl5pPr marL="1484986" lvl="4" indent="-457871" algn="l">
              <a:lnSpc>
                <a:spcPct val="115000"/>
              </a:lnSpc>
              <a:spcBef>
                <a:spcPts val="0"/>
              </a:spcBef>
              <a:spcAft>
                <a:spcPts val="0"/>
              </a:spcAft>
              <a:buSzPts val="7500"/>
              <a:buChar char="○"/>
              <a:defRPr/>
            </a:lvl5pPr>
            <a:lvl6pPr marL="1781983" lvl="5" indent="-457871" algn="l">
              <a:lnSpc>
                <a:spcPct val="115000"/>
              </a:lnSpc>
              <a:spcBef>
                <a:spcPts val="0"/>
              </a:spcBef>
              <a:spcAft>
                <a:spcPts val="0"/>
              </a:spcAft>
              <a:buSzPts val="7500"/>
              <a:buChar char="■"/>
              <a:defRPr/>
            </a:lvl6pPr>
            <a:lvl7pPr marL="2078980" lvl="6" indent="-457871" algn="l">
              <a:lnSpc>
                <a:spcPct val="115000"/>
              </a:lnSpc>
              <a:spcBef>
                <a:spcPts val="0"/>
              </a:spcBef>
              <a:spcAft>
                <a:spcPts val="0"/>
              </a:spcAft>
              <a:buSzPts val="7500"/>
              <a:buChar char="●"/>
              <a:defRPr/>
            </a:lvl7pPr>
            <a:lvl8pPr marL="2375977" lvl="7" indent="-457871" algn="l">
              <a:lnSpc>
                <a:spcPct val="115000"/>
              </a:lnSpc>
              <a:spcBef>
                <a:spcPts val="0"/>
              </a:spcBef>
              <a:spcAft>
                <a:spcPts val="0"/>
              </a:spcAft>
              <a:buSzPts val="7500"/>
              <a:buChar char="○"/>
              <a:defRPr/>
            </a:lvl8pPr>
            <a:lvl9pPr marL="2672974" lvl="8" indent="-457871" algn="l">
              <a:lnSpc>
                <a:spcPct val="115000"/>
              </a:lnSpc>
              <a:spcBef>
                <a:spcPts val="0"/>
              </a:spcBef>
              <a:spcAft>
                <a:spcPts val="0"/>
              </a:spcAft>
              <a:buSzPts val="7500"/>
              <a:buChar char="■"/>
              <a:defRPr/>
            </a:lvl9pPr>
          </a:lstStyle>
          <a:p>
            <a:endParaRPr/>
          </a:p>
        </p:txBody>
      </p:sp>
      <p:sp>
        <p:nvSpPr>
          <p:cNvPr id="42" name="Google Shape;42;p9"/>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10"/>
          <p:cNvSpPr txBox="1">
            <a:spLocks noGrp="1"/>
          </p:cNvSpPr>
          <p:nvPr>
            <p:ph type="body" idx="1"/>
          </p:nvPr>
        </p:nvSpPr>
        <p:spPr>
          <a:xfrm>
            <a:off x="1032019" y="17588224"/>
            <a:ext cx="19861694" cy="2515686"/>
          </a:xfrm>
          <a:prstGeom prst="rect">
            <a:avLst/>
          </a:prstGeom>
          <a:noFill/>
          <a:ln>
            <a:noFill/>
          </a:ln>
        </p:spPr>
        <p:txBody>
          <a:bodyPr spcFirstLastPara="1" wrap="square" lIns="487600" tIns="487600" rIns="487600" bIns="487600" anchor="ctr" anchorCtr="0">
            <a:normAutofit/>
          </a:bodyPr>
          <a:lstStyle>
            <a:lvl1pPr marL="296997" lvl="0" indent="-148499" algn="l">
              <a:lnSpc>
                <a:spcPct val="100000"/>
              </a:lnSpc>
              <a:spcBef>
                <a:spcPts val="0"/>
              </a:spcBef>
              <a:spcAft>
                <a:spcPts val="0"/>
              </a:spcAft>
              <a:buSzPts val="9600"/>
              <a:buNone/>
              <a:defRPr/>
            </a:lvl1pPr>
          </a:lstStyle>
          <a:p>
            <a:endParaRPr/>
          </a:p>
        </p:txBody>
      </p:sp>
      <p:sp>
        <p:nvSpPr>
          <p:cNvPr id="45" name="Google Shape;45;p10"/>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11"/>
          <p:cNvSpPr txBox="1">
            <a:spLocks noGrp="1"/>
          </p:cNvSpPr>
          <p:nvPr>
            <p:ph type="title" hasCustomPrompt="1"/>
          </p:nvPr>
        </p:nvSpPr>
        <p:spPr>
          <a:xfrm>
            <a:off x="1032019" y="4598614"/>
            <a:ext cx="28211257" cy="8163069"/>
          </a:xfrm>
          <a:prstGeom prst="rect">
            <a:avLst/>
          </a:prstGeom>
          <a:noFill/>
          <a:ln>
            <a:noFill/>
          </a:ln>
        </p:spPr>
        <p:txBody>
          <a:bodyPr spcFirstLastPara="1" wrap="square" lIns="487600" tIns="487600" rIns="487600" bIns="487600" anchor="b" anchorCtr="0">
            <a:normAutofit/>
          </a:bodyPr>
          <a:lstStyle>
            <a:lvl1pPr lvl="0" algn="ctr">
              <a:lnSpc>
                <a:spcPct val="100000"/>
              </a:lnSpc>
              <a:spcBef>
                <a:spcPts val="0"/>
              </a:spcBef>
              <a:spcAft>
                <a:spcPts val="0"/>
              </a:spcAft>
              <a:buSzPts val="64000"/>
              <a:buNone/>
              <a:defRPr sz="41574"/>
            </a:lvl1pPr>
            <a:lvl2pPr lvl="1" algn="ctr">
              <a:lnSpc>
                <a:spcPct val="100000"/>
              </a:lnSpc>
              <a:spcBef>
                <a:spcPts val="0"/>
              </a:spcBef>
              <a:spcAft>
                <a:spcPts val="0"/>
              </a:spcAft>
              <a:buSzPts val="64000"/>
              <a:buNone/>
              <a:defRPr sz="41574"/>
            </a:lvl2pPr>
            <a:lvl3pPr lvl="2" algn="ctr">
              <a:lnSpc>
                <a:spcPct val="100000"/>
              </a:lnSpc>
              <a:spcBef>
                <a:spcPts val="0"/>
              </a:spcBef>
              <a:spcAft>
                <a:spcPts val="0"/>
              </a:spcAft>
              <a:buSzPts val="64000"/>
              <a:buNone/>
              <a:defRPr sz="41574"/>
            </a:lvl3pPr>
            <a:lvl4pPr lvl="3" algn="ctr">
              <a:lnSpc>
                <a:spcPct val="100000"/>
              </a:lnSpc>
              <a:spcBef>
                <a:spcPts val="0"/>
              </a:spcBef>
              <a:spcAft>
                <a:spcPts val="0"/>
              </a:spcAft>
              <a:buSzPts val="64000"/>
              <a:buNone/>
              <a:defRPr sz="41574"/>
            </a:lvl4pPr>
            <a:lvl5pPr lvl="4" algn="ctr">
              <a:lnSpc>
                <a:spcPct val="100000"/>
              </a:lnSpc>
              <a:spcBef>
                <a:spcPts val="0"/>
              </a:spcBef>
              <a:spcAft>
                <a:spcPts val="0"/>
              </a:spcAft>
              <a:buSzPts val="64000"/>
              <a:buNone/>
              <a:defRPr sz="41574"/>
            </a:lvl5pPr>
            <a:lvl6pPr lvl="5" algn="ctr">
              <a:lnSpc>
                <a:spcPct val="100000"/>
              </a:lnSpc>
              <a:spcBef>
                <a:spcPts val="0"/>
              </a:spcBef>
              <a:spcAft>
                <a:spcPts val="0"/>
              </a:spcAft>
              <a:buSzPts val="64000"/>
              <a:buNone/>
              <a:defRPr sz="41574"/>
            </a:lvl6pPr>
            <a:lvl7pPr lvl="6" algn="ctr">
              <a:lnSpc>
                <a:spcPct val="100000"/>
              </a:lnSpc>
              <a:spcBef>
                <a:spcPts val="0"/>
              </a:spcBef>
              <a:spcAft>
                <a:spcPts val="0"/>
              </a:spcAft>
              <a:buSzPts val="64000"/>
              <a:buNone/>
              <a:defRPr sz="41574"/>
            </a:lvl7pPr>
            <a:lvl8pPr lvl="7" algn="ctr">
              <a:lnSpc>
                <a:spcPct val="100000"/>
              </a:lnSpc>
              <a:spcBef>
                <a:spcPts val="0"/>
              </a:spcBef>
              <a:spcAft>
                <a:spcPts val="0"/>
              </a:spcAft>
              <a:buSzPts val="64000"/>
              <a:buNone/>
              <a:defRPr sz="41574"/>
            </a:lvl8pPr>
            <a:lvl9pPr lvl="8" algn="ctr">
              <a:lnSpc>
                <a:spcPct val="100000"/>
              </a:lnSpc>
              <a:spcBef>
                <a:spcPts val="0"/>
              </a:spcBef>
              <a:spcAft>
                <a:spcPts val="0"/>
              </a:spcAft>
              <a:buSzPts val="64000"/>
              <a:buNone/>
              <a:defRPr sz="41574"/>
            </a:lvl9pPr>
          </a:lstStyle>
          <a:p>
            <a:r>
              <a:t>xx%</a:t>
            </a:r>
          </a:p>
        </p:txBody>
      </p:sp>
      <p:sp>
        <p:nvSpPr>
          <p:cNvPr id="48" name="Google Shape;48;p11"/>
          <p:cNvSpPr txBox="1">
            <a:spLocks noGrp="1"/>
          </p:cNvSpPr>
          <p:nvPr>
            <p:ph type="body" idx="1"/>
          </p:nvPr>
        </p:nvSpPr>
        <p:spPr>
          <a:xfrm>
            <a:off x="1032019" y="13105083"/>
            <a:ext cx="28211257" cy="5407878"/>
          </a:xfrm>
          <a:prstGeom prst="rect">
            <a:avLst/>
          </a:prstGeom>
          <a:noFill/>
          <a:ln>
            <a:noFill/>
          </a:ln>
        </p:spPr>
        <p:txBody>
          <a:bodyPr spcFirstLastPara="1" wrap="square" lIns="487600" tIns="487600" rIns="487600" bIns="487600" anchor="t" anchorCtr="0">
            <a:normAutofit/>
          </a:bodyPr>
          <a:lstStyle>
            <a:lvl1pPr marL="296997" lvl="0" indent="-544495" algn="ctr">
              <a:lnSpc>
                <a:spcPct val="115000"/>
              </a:lnSpc>
              <a:spcBef>
                <a:spcPts val="0"/>
              </a:spcBef>
              <a:spcAft>
                <a:spcPts val="0"/>
              </a:spcAft>
              <a:buSzPts val="9600"/>
              <a:buChar char="●"/>
              <a:defRPr/>
            </a:lvl1pPr>
            <a:lvl2pPr marL="593994" lvl="1" indent="-457871" algn="ctr">
              <a:lnSpc>
                <a:spcPct val="115000"/>
              </a:lnSpc>
              <a:spcBef>
                <a:spcPts val="0"/>
              </a:spcBef>
              <a:spcAft>
                <a:spcPts val="0"/>
              </a:spcAft>
              <a:buSzPts val="7500"/>
              <a:buChar char="○"/>
              <a:defRPr/>
            </a:lvl2pPr>
            <a:lvl3pPr marL="890991" lvl="2" indent="-457871" algn="ctr">
              <a:lnSpc>
                <a:spcPct val="115000"/>
              </a:lnSpc>
              <a:spcBef>
                <a:spcPts val="0"/>
              </a:spcBef>
              <a:spcAft>
                <a:spcPts val="0"/>
              </a:spcAft>
              <a:buSzPts val="7500"/>
              <a:buChar char="■"/>
              <a:defRPr/>
            </a:lvl3pPr>
            <a:lvl4pPr marL="1187988" lvl="3" indent="-457871" algn="ctr">
              <a:lnSpc>
                <a:spcPct val="115000"/>
              </a:lnSpc>
              <a:spcBef>
                <a:spcPts val="0"/>
              </a:spcBef>
              <a:spcAft>
                <a:spcPts val="0"/>
              </a:spcAft>
              <a:buSzPts val="7500"/>
              <a:buChar char="●"/>
              <a:defRPr/>
            </a:lvl4pPr>
            <a:lvl5pPr marL="1484986" lvl="4" indent="-457871" algn="ctr">
              <a:lnSpc>
                <a:spcPct val="115000"/>
              </a:lnSpc>
              <a:spcBef>
                <a:spcPts val="0"/>
              </a:spcBef>
              <a:spcAft>
                <a:spcPts val="0"/>
              </a:spcAft>
              <a:buSzPts val="7500"/>
              <a:buChar char="○"/>
              <a:defRPr/>
            </a:lvl5pPr>
            <a:lvl6pPr marL="1781983" lvl="5" indent="-457871" algn="ctr">
              <a:lnSpc>
                <a:spcPct val="115000"/>
              </a:lnSpc>
              <a:spcBef>
                <a:spcPts val="0"/>
              </a:spcBef>
              <a:spcAft>
                <a:spcPts val="0"/>
              </a:spcAft>
              <a:buSzPts val="7500"/>
              <a:buChar char="■"/>
              <a:defRPr/>
            </a:lvl6pPr>
            <a:lvl7pPr marL="2078980" lvl="6" indent="-457871" algn="ctr">
              <a:lnSpc>
                <a:spcPct val="115000"/>
              </a:lnSpc>
              <a:spcBef>
                <a:spcPts val="0"/>
              </a:spcBef>
              <a:spcAft>
                <a:spcPts val="0"/>
              </a:spcAft>
              <a:buSzPts val="7500"/>
              <a:buChar char="●"/>
              <a:defRPr/>
            </a:lvl7pPr>
            <a:lvl8pPr marL="2375977" lvl="7" indent="-457871" algn="ctr">
              <a:lnSpc>
                <a:spcPct val="115000"/>
              </a:lnSpc>
              <a:spcBef>
                <a:spcPts val="0"/>
              </a:spcBef>
              <a:spcAft>
                <a:spcPts val="0"/>
              </a:spcAft>
              <a:buSzPts val="7500"/>
              <a:buChar char="○"/>
              <a:defRPr/>
            </a:lvl8pPr>
            <a:lvl9pPr marL="2672974" lvl="8" indent="-457871" algn="ctr">
              <a:lnSpc>
                <a:spcPct val="115000"/>
              </a:lnSpc>
              <a:spcBef>
                <a:spcPts val="0"/>
              </a:spcBef>
              <a:spcAft>
                <a:spcPts val="0"/>
              </a:spcAft>
              <a:buSzPts val="7500"/>
              <a:buChar char="■"/>
              <a:defRPr/>
            </a:lvl9pPr>
          </a:lstStyle>
          <a:p>
            <a:endParaRPr/>
          </a:p>
        </p:txBody>
      </p:sp>
      <p:sp>
        <p:nvSpPr>
          <p:cNvPr id="49" name="Google Shape;49;p11"/>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2"/>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2019" y="1850150"/>
            <a:ext cx="28211257" cy="2381025"/>
          </a:xfrm>
          <a:prstGeom prst="rect">
            <a:avLst/>
          </a:prstGeom>
          <a:noFill/>
          <a:ln>
            <a:noFill/>
          </a:ln>
        </p:spPr>
        <p:txBody>
          <a:bodyPr spcFirstLastPara="1" wrap="square" lIns="487600" tIns="487600" rIns="487600" bIns="487600" anchor="t" anchorCtr="0">
            <a:normAutofit/>
          </a:bodyPr>
          <a:lstStyle>
            <a:lvl1pPr marR="0" lvl="0"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14900"/>
              <a:buFont typeface="Arial"/>
              <a:buNone/>
              <a:defRPr sz="149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1032019" y="4791308"/>
            <a:ext cx="28211257" cy="14203328"/>
          </a:xfrm>
          <a:prstGeom prst="rect">
            <a:avLst/>
          </a:prstGeom>
          <a:noFill/>
          <a:ln>
            <a:noFill/>
          </a:ln>
        </p:spPr>
        <p:txBody>
          <a:bodyPr spcFirstLastPara="1" wrap="square" lIns="487600" tIns="487600" rIns="487600" bIns="487600" anchor="t" anchorCtr="0">
            <a:normAutofit/>
          </a:bodyPr>
          <a:lstStyle>
            <a:lvl1pPr marL="457200" marR="0" lvl="0" indent="-838200" algn="l" rtl="0">
              <a:lnSpc>
                <a:spcPct val="115000"/>
              </a:lnSpc>
              <a:spcBef>
                <a:spcPts val="0"/>
              </a:spcBef>
              <a:spcAft>
                <a:spcPts val="0"/>
              </a:spcAft>
              <a:buClr>
                <a:schemeClr val="dk2"/>
              </a:buClr>
              <a:buSzPts val="9600"/>
              <a:buFont typeface="Arial"/>
              <a:buChar char="●"/>
              <a:defRPr sz="9600" b="0" i="0" u="none" strike="noStrike" cap="none">
                <a:solidFill>
                  <a:schemeClr val="dk2"/>
                </a:solidFill>
                <a:latin typeface="Arial"/>
                <a:ea typeface="Arial"/>
                <a:cs typeface="Arial"/>
                <a:sym typeface="Arial"/>
              </a:defRPr>
            </a:lvl1pPr>
            <a:lvl2pPr marL="914400" marR="0" lvl="1"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2pPr>
            <a:lvl3pPr marL="1371600" marR="0" lvl="2"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3pPr>
            <a:lvl4pPr marL="1828800" marR="0" lvl="3"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4pPr>
            <a:lvl5pPr marL="2286000" marR="0" lvl="4"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5pPr>
            <a:lvl6pPr marL="2743200" marR="0" lvl="5"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6pPr>
            <a:lvl7pPr marL="3200400" marR="0" lvl="6"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7pPr>
            <a:lvl8pPr marL="3657600" marR="0" lvl="7"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8pPr>
            <a:lvl9pPr marL="4114800" marR="0" lvl="8" indent="-704850" algn="l" rtl="0">
              <a:lnSpc>
                <a:spcPct val="115000"/>
              </a:lnSpc>
              <a:spcBef>
                <a:spcPts val="0"/>
              </a:spcBef>
              <a:spcAft>
                <a:spcPts val="0"/>
              </a:spcAft>
              <a:buClr>
                <a:schemeClr val="dk2"/>
              </a:buClr>
              <a:buSzPts val="7500"/>
              <a:buFont typeface="Arial"/>
              <a:buChar char="■"/>
              <a:defRPr sz="75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28051779" y="19386894"/>
            <a:ext cx="1816670" cy="1636395"/>
          </a:xfrm>
          <a:prstGeom prst="rect">
            <a:avLst/>
          </a:prstGeom>
          <a:noFill/>
          <a:ln>
            <a:noFill/>
          </a:ln>
        </p:spPr>
        <p:txBody>
          <a:bodyPr spcFirstLastPara="1" wrap="square" lIns="487600" tIns="487600" rIns="487600" bIns="487600" anchor="ctr" anchorCtr="0">
            <a:normAutofit/>
          </a:bodyPr>
          <a:lstStyle>
            <a:lvl1pPr marL="0" marR="0" lvl="0"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5300"/>
              <a:buFont typeface="Arial"/>
              <a:buNone/>
              <a:defRPr sz="3443" b="0" i="0" u="none" strike="noStrike" cap="none">
                <a:solidFill>
                  <a:schemeClr val="dk2"/>
                </a:solidFill>
                <a:latin typeface="Arial"/>
                <a:ea typeface="Arial"/>
                <a:cs typeface="Arial"/>
                <a:sym typeface="Aria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0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s://doi.org/10.48550/arXiv.2510.14723" TargetMode="External"/><Relationship Id="rId18" Type="http://schemas.openxmlformats.org/officeDocument/2006/relationships/image" Target="../media/image11.png"/><Relationship Id="rId3" Type="http://schemas.openxmlformats.org/officeDocument/2006/relationships/image" Target="../media/image1.png"/><Relationship Id="rId21" Type="http://schemas.openxmlformats.org/officeDocument/2006/relationships/image" Target="../media/image12.png"/><Relationship Id="rId7" Type="http://schemas.openxmlformats.org/officeDocument/2006/relationships/image" Target="../media/image4.png"/><Relationship Id="rId12" Type="http://schemas.openxmlformats.org/officeDocument/2006/relationships/hyperlink" Target="https://www.hiqa.ie/sites/default/files/2025-09/MWR/WS1-Policy_Review.pdf?utm_source=chatgpt.com" TargetMode="External"/><Relationship Id="rId17" Type="http://schemas.openxmlformats.org/officeDocument/2006/relationships/image" Target="../media/image10.png"/><Relationship Id="rId25"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9.png"/><Relationship Id="rId20" Type="http://schemas.openxmlformats.org/officeDocument/2006/relationships/image" Target="../media/image14.png"/><Relationship Id="rId1" Type="http://schemas.openxmlformats.org/officeDocument/2006/relationships/slideLayout" Target="../slideLayouts/slideLayout10.xml"/><Relationship Id="rId6" Type="http://schemas.openxmlformats.org/officeDocument/2006/relationships/image" Target="../media/image30.png"/><Relationship Id="rId11" Type="http://schemas.openxmlformats.org/officeDocument/2006/relationships/hyperlink" Target="https://about.hse.ie/news/hse-reports-448-people-currently-hospitalised-with-respiratory-illness/" TargetMode="External"/><Relationship Id="rId24" Type="http://schemas.openxmlformats.org/officeDocument/2006/relationships/image" Target="../media/image16.png"/><Relationship Id="rId5" Type="http://schemas.openxmlformats.org/officeDocument/2006/relationships/image" Target="../media/image3.png"/><Relationship Id="rId15" Type="http://schemas.openxmlformats.org/officeDocument/2006/relationships/image" Target="../media/image8.png"/><Relationship Id="rId23" Type="http://schemas.openxmlformats.org/officeDocument/2006/relationships/image" Target="../media/image17.png"/><Relationship Id="rId10" Type="http://schemas.openxmlformats.org/officeDocument/2006/relationships/image" Target="../media/image7.png"/><Relationship Id="rId19" Type="http://schemas.openxmlformats.org/officeDocument/2006/relationships/image" Target="../media/image13.pn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hyperlink" Target="http://github.com/hotsoupisgood/scraping-hse-trolly-data" TargetMode="External"/><Relationship Id="rId22"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a:extLst>
            <a:ext uri="{FF2B5EF4-FFF2-40B4-BE49-F238E27FC236}">
              <a16:creationId xmlns:a16="http://schemas.microsoft.com/office/drawing/2014/main" id="{169FA3BF-A327-55C3-25A6-B54246AD83E9}"/>
            </a:ext>
          </a:extLst>
        </p:cNvPr>
        <p:cNvGrpSpPr/>
        <p:nvPr/>
      </p:nvGrpSpPr>
      <p:grpSpPr>
        <a:xfrm>
          <a:off x="0" y="0"/>
          <a:ext cx="0" cy="0"/>
          <a:chOff x="0" y="0"/>
          <a:chExt cx="0" cy="0"/>
        </a:xfrm>
      </p:grpSpPr>
      <p:sp>
        <p:nvSpPr>
          <p:cNvPr id="57" name="Google Shape;57;p13">
            <a:extLst>
              <a:ext uri="{FF2B5EF4-FFF2-40B4-BE49-F238E27FC236}">
                <a16:creationId xmlns:a16="http://schemas.microsoft.com/office/drawing/2014/main" id="{49A323B4-B9AA-C24D-4E31-AC637D817A86}"/>
              </a:ext>
            </a:extLst>
          </p:cNvPr>
          <p:cNvSpPr/>
          <p:nvPr/>
        </p:nvSpPr>
        <p:spPr>
          <a:xfrm>
            <a:off x="1100454" y="9987914"/>
            <a:ext cx="6781381" cy="771524"/>
          </a:xfrm>
          <a:prstGeom prst="rect">
            <a:avLst/>
          </a:prstGeom>
          <a:solidFill>
            <a:srgbClr val="A80050"/>
          </a:solidFill>
          <a:ln>
            <a:noFill/>
          </a:ln>
        </p:spPr>
        <p:txBody>
          <a:bodyPr spcFirstLastPara="1" wrap="square" lIns="190559" tIns="95279" rIns="190559" bIns="95279" anchor="ctr" anchorCtr="0">
            <a:noAutofit/>
          </a:bodyPr>
          <a:lstStyle/>
          <a:p>
            <a:pPr algn="ctr">
              <a:buClr>
                <a:schemeClr val="lt1"/>
              </a:buClr>
              <a:buSzPts val="4800"/>
            </a:pPr>
            <a:r>
              <a:rPr lang="en" sz="3118" b="1" dirty="0">
                <a:solidFill>
                  <a:schemeClr val="lt1"/>
                </a:solidFill>
                <a:latin typeface="Arial" panose="020B0604020202020204" pitchFamily="34" charset="0"/>
                <a:ea typeface="Fira Sans"/>
                <a:cs typeface="Arial" panose="020B0604020202020204" pitchFamily="34" charset="0"/>
                <a:sym typeface="Fira Sans"/>
              </a:rPr>
              <a:t>Methods</a:t>
            </a:r>
            <a:endParaRPr sz="611" dirty="0">
              <a:latin typeface="Arial" panose="020B0604020202020204" pitchFamily="34" charset="0"/>
              <a:cs typeface="Arial" panose="020B0604020202020204" pitchFamily="34" charset="0"/>
            </a:endParaRPr>
          </a:p>
        </p:txBody>
      </p:sp>
      <p:sp>
        <p:nvSpPr>
          <p:cNvPr id="58" name="Google Shape;58;p13">
            <a:extLst>
              <a:ext uri="{FF2B5EF4-FFF2-40B4-BE49-F238E27FC236}">
                <a16:creationId xmlns:a16="http://schemas.microsoft.com/office/drawing/2014/main" id="{F4F19F86-85B2-F8A0-2BEA-336C0B81652D}"/>
              </a:ext>
            </a:extLst>
          </p:cNvPr>
          <p:cNvSpPr/>
          <p:nvPr/>
        </p:nvSpPr>
        <p:spPr>
          <a:xfrm>
            <a:off x="5782271" y="154953"/>
            <a:ext cx="19750154" cy="2096308"/>
          </a:xfrm>
          <a:prstGeom prst="rect">
            <a:avLst/>
          </a:prstGeom>
          <a:noFill/>
          <a:ln>
            <a:noFill/>
          </a:ln>
        </p:spPr>
        <p:txBody>
          <a:bodyPr spcFirstLastPara="1" wrap="square" lIns="294007" tIns="147003" rIns="294007" bIns="147003" anchor="t" anchorCtr="0">
            <a:noAutofit/>
          </a:bodyPr>
          <a:lstStyle/>
          <a:p>
            <a:pPr algn="ctr">
              <a:buClr>
                <a:srgbClr val="004E8F"/>
              </a:buClr>
              <a:buSzPts val="10800"/>
            </a:pPr>
            <a:endParaRPr sz="611" dirty="0">
              <a:solidFill>
                <a:srgbClr val="A80050"/>
              </a:solidFill>
              <a:latin typeface="Arial" panose="020B0604020202020204" pitchFamily="34" charset="0"/>
              <a:cs typeface="Arial" panose="020B0604020202020204" pitchFamily="34" charset="0"/>
            </a:endParaRPr>
          </a:p>
        </p:txBody>
      </p:sp>
      <p:sp>
        <p:nvSpPr>
          <p:cNvPr id="59" name="Google Shape;59;p13">
            <a:extLst>
              <a:ext uri="{FF2B5EF4-FFF2-40B4-BE49-F238E27FC236}">
                <a16:creationId xmlns:a16="http://schemas.microsoft.com/office/drawing/2014/main" id="{1CA966FD-6F4D-FFF0-EB44-BA6E0752F3E3}"/>
              </a:ext>
            </a:extLst>
          </p:cNvPr>
          <p:cNvSpPr/>
          <p:nvPr/>
        </p:nvSpPr>
        <p:spPr>
          <a:xfrm>
            <a:off x="8249823" y="3241862"/>
            <a:ext cx="6731882" cy="771524"/>
          </a:xfrm>
          <a:prstGeom prst="rect">
            <a:avLst/>
          </a:prstGeom>
          <a:solidFill>
            <a:srgbClr val="A80050"/>
          </a:solidFill>
          <a:ln>
            <a:noFill/>
          </a:ln>
        </p:spPr>
        <p:txBody>
          <a:bodyPr spcFirstLastPara="1" wrap="square" lIns="190559" tIns="95279" rIns="190559" bIns="95279" anchor="ctr" anchorCtr="0">
            <a:noAutofit/>
          </a:bodyPr>
          <a:lstStyle/>
          <a:p>
            <a:pPr algn="ctr">
              <a:buClr>
                <a:schemeClr val="lt1"/>
              </a:buClr>
              <a:buSzPts val="4800"/>
            </a:pPr>
            <a:r>
              <a:rPr lang="en" sz="3118" b="1" dirty="0">
                <a:solidFill>
                  <a:schemeClr val="lt1"/>
                </a:solidFill>
                <a:latin typeface="Arial" panose="020B0604020202020204" pitchFamily="34" charset="0"/>
                <a:cs typeface="Arial" panose="020B0604020202020204" pitchFamily="34" charset="0"/>
                <a:sym typeface="Fira Sans"/>
              </a:rPr>
              <a:t>Results</a:t>
            </a:r>
            <a:endParaRPr sz="611" dirty="0">
              <a:latin typeface="Arial" panose="020B0604020202020204" pitchFamily="34" charset="0"/>
              <a:cs typeface="Arial" panose="020B0604020202020204" pitchFamily="34" charset="0"/>
            </a:endParaRPr>
          </a:p>
        </p:txBody>
      </p:sp>
      <p:sp>
        <p:nvSpPr>
          <p:cNvPr id="60" name="Google Shape;60;p13">
            <a:extLst>
              <a:ext uri="{FF2B5EF4-FFF2-40B4-BE49-F238E27FC236}">
                <a16:creationId xmlns:a16="http://schemas.microsoft.com/office/drawing/2014/main" id="{BE4C75E0-A4EF-BC43-8F1A-22C4ACEB4A39}"/>
              </a:ext>
            </a:extLst>
          </p:cNvPr>
          <p:cNvSpPr/>
          <p:nvPr/>
        </p:nvSpPr>
        <p:spPr>
          <a:xfrm>
            <a:off x="15355584" y="16620127"/>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Plans for the Future</a:t>
            </a:r>
          </a:p>
        </p:txBody>
      </p:sp>
      <p:sp>
        <p:nvSpPr>
          <p:cNvPr id="61" name="Google Shape;61;p13">
            <a:extLst>
              <a:ext uri="{FF2B5EF4-FFF2-40B4-BE49-F238E27FC236}">
                <a16:creationId xmlns:a16="http://schemas.microsoft.com/office/drawing/2014/main" id="{609B0D6F-D682-40AD-5721-867557A1157C}"/>
              </a:ext>
            </a:extLst>
          </p:cNvPr>
          <p:cNvSpPr/>
          <p:nvPr/>
        </p:nvSpPr>
        <p:spPr>
          <a:xfrm>
            <a:off x="15293509" y="3242608"/>
            <a:ext cx="6731882" cy="771524"/>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cs typeface="Arial" panose="020B0604020202020204" pitchFamily="34" charset="0"/>
                <a:sym typeface="Fira Sans"/>
              </a:rPr>
              <a:t>Results ctd.</a:t>
            </a:r>
            <a:endParaRPr sz="611"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63" name="Google Shape;63;p13">
                <a:extLst>
                  <a:ext uri="{FF2B5EF4-FFF2-40B4-BE49-F238E27FC236}">
                    <a16:creationId xmlns:a16="http://schemas.microsoft.com/office/drawing/2014/main" id="{5072E64D-2CD2-907A-5F48-5473597F0498}"/>
                  </a:ext>
                </a:extLst>
              </p:cNvPr>
              <p:cNvSpPr/>
              <p:nvPr/>
            </p:nvSpPr>
            <p:spPr>
              <a:xfrm>
                <a:off x="11427447" y="1413216"/>
                <a:ext cx="7567428" cy="921190"/>
              </a:xfrm>
              <a:prstGeom prst="rect">
                <a:avLst/>
              </a:prstGeom>
              <a:noFill/>
              <a:ln>
                <a:noFill/>
              </a:ln>
            </p:spPr>
            <p:txBody>
              <a:bodyPr spcFirstLastPara="1" wrap="square" lIns="294007" tIns="147003" rIns="294007" bIns="147003" anchor="t" anchorCtr="0">
                <a:noAutofit/>
              </a:bodyPr>
              <a:lstStyle/>
              <a:p>
                <a:pPr algn="ctr">
                  <a:buClr>
                    <a:srgbClr val="004E8F"/>
                  </a:buClr>
                  <a:buSzPts val="6000"/>
                </a:pPr>
                <a:endParaRPr/>
              </a:p>
            </p:txBody>
          </p:sp>
        </mc:Choice>
        <mc:Fallback xmlns="">
          <p:sp>
            <p:nvSpPr>
              <p:cNvPr id="63" name="Google Shape;63;p13">
                <a:extLst>
                  <a:ext uri="{FF2B5EF4-FFF2-40B4-BE49-F238E27FC236}">
                    <a16:creationId xmlns:a16="http://schemas.microsoft.com/office/drawing/2014/main" id="{5072E64D-2CD2-907A-5F48-5473597F0498}"/>
                  </a:ext>
                </a:extLst>
              </p:cNvPr>
              <p:cNvSpPr>
                <a:spLocks noRot="1" noChangeAspect="1" noMove="1" noResize="1" noEditPoints="1" noAdjustHandles="1" noChangeArrowheads="1" noChangeShapeType="1" noTextEdit="1"/>
              </p:cNvSpPr>
              <p:nvPr/>
            </p:nvSpPr>
            <p:spPr>
              <a:xfrm>
                <a:off x="11427447" y="1413216"/>
                <a:ext cx="7567428" cy="921190"/>
              </a:xfrm>
              <a:prstGeom prst="rect">
                <a:avLst/>
              </a:prstGeom>
              <a:blipFill>
                <a:blip r:embed="rId3"/>
                <a:stretch>
                  <a:fillRect/>
                </a:stretch>
              </a:blipFill>
              <a:ln>
                <a:noFill/>
              </a:ln>
            </p:spPr>
            <p:txBody>
              <a:bodyPr/>
              <a:lstStyle/>
              <a:p>
                <a:r>
                  <a:rPr lang="en-US">
                    <a:noFill/>
                  </a:rPr>
                  <a:t> </a:t>
                </a:r>
              </a:p>
            </p:txBody>
          </p:sp>
        </mc:Fallback>
      </mc:AlternateContent>
      <p:cxnSp>
        <p:nvCxnSpPr>
          <p:cNvPr id="64" name="Google Shape;64;p13">
            <a:extLst>
              <a:ext uri="{FF2B5EF4-FFF2-40B4-BE49-F238E27FC236}">
                <a16:creationId xmlns:a16="http://schemas.microsoft.com/office/drawing/2014/main" id="{715605CF-CA4F-385E-F796-5B681A316F7E}"/>
              </a:ext>
            </a:extLst>
          </p:cNvPr>
          <p:cNvCxnSpPr/>
          <p:nvPr/>
        </p:nvCxnSpPr>
        <p:spPr>
          <a:xfrm>
            <a:off x="1129211" y="21202606"/>
            <a:ext cx="27917510" cy="0"/>
          </a:xfrm>
          <a:prstGeom prst="straightConnector1">
            <a:avLst/>
          </a:prstGeom>
          <a:solidFill>
            <a:srgbClr val="990000"/>
          </a:solidFill>
          <a:ln w="203200" cap="flat" cmpd="sng">
            <a:solidFill>
              <a:srgbClr val="A80050"/>
            </a:solidFill>
            <a:prstDash val="solid"/>
            <a:round/>
            <a:headEnd type="none" w="sm" len="sm"/>
            <a:tailEnd type="none" w="sm" len="sm"/>
          </a:ln>
        </p:spPr>
      </p:cxnSp>
      <p:pic>
        <p:nvPicPr>
          <p:cNvPr id="68" name="Google Shape;68;p13" title="University_Of_Galway_Logo__Positive_Landscape.png">
            <a:extLst>
              <a:ext uri="{FF2B5EF4-FFF2-40B4-BE49-F238E27FC236}">
                <a16:creationId xmlns:a16="http://schemas.microsoft.com/office/drawing/2014/main" id="{471E0258-EE53-684D-56EB-4B5346693D35}"/>
              </a:ext>
            </a:extLst>
          </p:cNvPr>
          <p:cNvPicPr preferRelativeResize="0"/>
          <p:nvPr/>
        </p:nvPicPr>
        <p:blipFill>
          <a:blip r:embed="rId4">
            <a:alphaModFix/>
          </a:blip>
          <a:stretch>
            <a:fillRect/>
          </a:stretch>
        </p:blipFill>
        <p:spPr>
          <a:xfrm>
            <a:off x="881856" y="0"/>
            <a:ext cx="6221284" cy="2351209"/>
          </a:xfrm>
          <a:prstGeom prst="rect">
            <a:avLst/>
          </a:prstGeom>
          <a:noFill/>
          <a:ln>
            <a:noFill/>
          </a:ln>
        </p:spPr>
      </p:pic>
      <p:sp>
        <p:nvSpPr>
          <p:cNvPr id="2" name="TextBox 1">
            <a:extLst>
              <a:ext uri="{FF2B5EF4-FFF2-40B4-BE49-F238E27FC236}">
                <a16:creationId xmlns:a16="http://schemas.microsoft.com/office/drawing/2014/main" id="{961947AF-5868-2DA2-B575-C34A8054916C}"/>
              </a:ext>
            </a:extLst>
          </p:cNvPr>
          <p:cNvSpPr txBox="1"/>
          <p:nvPr/>
        </p:nvSpPr>
        <p:spPr>
          <a:xfrm>
            <a:off x="13474436" y="1098881"/>
            <a:ext cx="184731" cy="186333"/>
          </a:xfrm>
          <a:prstGeom prst="rect">
            <a:avLst/>
          </a:prstGeom>
          <a:noFill/>
        </p:spPr>
        <p:txBody>
          <a:bodyPr wrap="none" rtlCol="0">
            <a:spAutoFit/>
          </a:bodyPr>
          <a:lstStyle/>
          <a:p>
            <a:endParaRPr lang="en-IE" sz="611" dirty="0">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CFC720C9-A7B5-CDB2-76C4-63D7ED622A02}"/>
              </a:ext>
            </a:extLst>
          </p:cNvPr>
          <p:cNvSpPr txBox="1"/>
          <p:nvPr/>
        </p:nvSpPr>
        <p:spPr>
          <a:xfrm>
            <a:off x="9296656" y="327373"/>
            <a:ext cx="11823610" cy="1292020"/>
          </a:xfrm>
          <a:prstGeom prst="rect">
            <a:avLst/>
          </a:prstGeom>
          <a:noFill/>
        </p:spPr>
        <p:txBody>
          <a:bodyPr wrap="square" rtlCol="0">
            <a:spAutoFit/>
          </a:bodyPr>
          <a:lstStyle/>
          <a:p>
            <a:pPr algn="ctr"/>
            <a:r>
              <a:rPr lang="en-GB" sz="3898" b="1" dirty="0">
                <a:solidFill>
                  <a:srgbClr val="CC0066"/>
                </a:solidFill>
                <a:latin typeface="Fira Sans" panose="020B0503050000020004" pitchFamily="34" charset="0"/>
                <a:cs typeface="Arial" panose="020B0604020202020204" pitchFamily="34" charset="0"/>
              </a:rPr>
              <a:t>Bayesian modelling On Trolley Counts Across the Irish HSE Health Regions</a:t>
            </a:r>
            <a:endParaRPr lang="en-IE" sz="3898" dirty="0">
              <a:solidFill>
                <a:srgbClr val="CC0066"/>
              </a:solidFill>
              <a:latin typeface="Fira Sans" panose="020B0503050000020004" pitchFamily="34" charset="0"/>
              <a:cs typeface="Arial" panose="020B0604020202020204" pitchFamily="34" charset="0"/>
            </a:endParaRPr>
          </a:p>
        </p:txBody>
      </p:sp>
      <p:sp>
        <p:nvSpPr>
          <p:cNvPr id="4" name="TextBox 3">
            <a:extLst>
              <a:ext uri="{FF2B5EF4-FFF2-40B4-BE49-F238E27FC236}">
                <a16:creationId xmlns:a16="http://schemas.microsoft.com/office/drawing/2014/main" id="{9D833B35-FDF0-20BF-9206-1AB00C10CE45}"/>
              </a:ext>
            </a:extLst>
          </p:cNvPr>
          <p:cNvSpPr txBox="1"/>
          <p:nvPr/>
        </p:nvSpPr>
        <p:spPr>
          <a:xfrm>
            <a:off x="1141302" y="4484916"/>
            <a:ext cx="6702985" cy="4291559"/>
          </a:xfrm>
          <a:prstGeom prst="rect">
            <a:avLst/>
          </a:prstGeom>
          <a:noFill/>
        </p:spPr>
        <p:txBody>
          <a:bodyPr wrap="square" rtlCol="0">
            <a:spAutoFit/>
          </a:bodyPr>
          <a:lstStyle/>
          <a:p>
            <a:r>
              <a:rPr lang="en-IE" sz="1819" dirty="0">
                <a:latin typeface="Arial" panose="020B0604020202020204" pitchFamily="34" charset="0"/>
                <a:ea typeface="Calibri" panose="020F0502020204030204" pitchFamily="34" charset="0"/>
                <a:cs typeface="Arial" panose="020B0604020202020204" pitchFamily="34" charset="0"/>
              </a:rPr>
              <a:t>In Irish emergency departments it is standard to put patients on trolleys after having been admitted and before being seen. Live daily counts of patients on trolleys are frequently used by policymakers and the media to assess levels of hospital overcrowding [1].</a:t>
            </a:r>
          </a:p>
          <a:p>
            <a:endParaRPr lang="en-IE" sz="1819" dirty="0">
              <a:latin typeface="Arial" panose="020B0604020202020204" pitchFamily="34" charset="0"/>
              <a:ea typeface="Calibri" panose="020F0502020204030204" pitchFamily="34" charset="0"/>
              <a:cs typeface="Arial" panose="020B0604020202020204" pitchFamily="34" charset="0"/>
            </a:endParaRPr>
          </a:p>
          <a:p>
            <a:r>
              <a:rPr lang="en-IE" sz="1819" dirty="0">
                <a:latin typeface="Arial" panose="020B0604020202020204" pitchFamily="34" charset="0"/>
                <a:ea typeface="Calibri" panose="020F0502020204030204" pitchFamily="34" charset="0"/>
                <a:cs typeface="Arial" panose="020B0604020202020204" pitchFamily="34" charset="0"/>
              </a:rPr>
              <a:t>Despite its widespread use, trolley data is typically reported as raw daily counts, offering limited insight into temporal dynamics, uncertainty, or systematic differences across hospital health region populations. </a:t>
            </a:r>
          </a:p>
          <a:p>
            <a:endParaRPr lang="en-IE" sz="1819" dirty="0">
              <a:latin typeface="Arial" panose="020B0604020202020204" pitchFamily="34" charset="0"/>
              <a:ea typeface="Calibri" panose="020F0502020204030204" pitchFamily="34" charset="0"/>
              <a:cs typeface="Arial" panose="020B0604020202020204" pitchFamily="34" charset="0"/>
            </a:endParaRPr>
          </a:p>
          <a:p>
            <a:r>
              <a:rPr lang="en-IE" sz="1819" dirty="0">
                <a:latin typeface="Arial" panose="020B0604020202020204" pitchFamily="34" charset="0"/>
                <a:ea typeface="Calibri" panose="020F0502020204030204" pitchFamily="34" charset="0"/>
                <a:cs typeface="Arial" panose="020B0604020202020204" pitchFamily="34" charset="0"/>
              </a:rPr>
              <a:t>To date, there is limited evidence of studies applying statistical modelling to trolley data to quantify uncertainty, identify systematic patterns, or support robust comparative assessments of hospital pressure.</a:t>
            </a:r>
          </a:p>
        </p:txBody>
      </p:sp>
      <p:sp>
        <p:nvSpPr>
          <p:cNvPr id="5" name="Google Shape;57;p13">
            <a:extLst>
              <a:ext uri="{FF2B5EF4-FFF2-40B4-BE49-F238E27FC236}">
                <a16:creationId xmlns:a16="http://schemas.microsoft.com/office/drawing/2014/main" id="{6C36A5D1-A0F4-C763-44D1-AF998E219130}"/>
              </a:ext>
            </a:extLst>
          </p:cNvPr>
          <p:cNvSpPr/>
          <p:nvPr/>
        </p:nvSpPr>
        <p:spPr>
          <a:xfrm>
            <a:off x="1100454" y="3241862"/>
            <a:ext cx="6781381" cy="771524"/>
          </a:xfrm>
          <a:prstGeom prst="rect">
            <a:avLst/>
          </a:prstGeom>
          <a:solidFill>
            <a:srgbClr val="A80050"/>
          </a:solidFill>
          <a:ln>
            <a:noFill/>
          </a:ln>
        </p:spPr>
        <p:txBody>
          <a:bodyPr spcFirstLastPara="1" wrap="square" lIns="190559" tIns="95279" rIns="190559" bIns="95279" anchor="ctr" anchorCtr="0">
            <a:noAutofit/>
          </a:bodyPr>
          <a:lstStyle/>
          <a:p>
            <a:pPr algn="ctr">
              <a:buClr>
                <a:schemeClr val="lt1"/>
              </a:buClr>
              <a:buSzPts val="4800"/>
            </a:pPr>
            <a:r>
              <a:rPr lang="en" sz="3118" b="1" dirty="0">
                <a:solidFill>
                  <a:schemeClr val="lt1"/>
                </a:solidFill>
                <a:latin typeface="Arial" panose="020B0604020202020204" pitchFamily="34" charset="0"/>
                <a:cs typeface="Arial" panose="020B0604020202020204" pitchFamily="34" charset="0"/>
                <a:sym typeface="Fira Sans"/>
              </a:rPr>
              <a:t>Introduction</a:t>
            </a:r>
            <a:endParaRPr sz="61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D74DFE3-4145-46D0-855B-FBDD1AF9F68D}"/>
                  </a:ext>
                </a:extLst>
              </p:cNvPr>
              <p:cNvSpPr txBox="1"/>
              <p:nvPr/>
            </p:nvSpPr>
            <p:spPr>
              <a:xfrm>
                <a:off x="1124062" y="11135666"/>
                <a:ext cx="6867963" cy="8855501"/>
              </a:xfrm>
              <a:prstGeom prst="rect">
                <a:avLst/>
              </a:prstGeom>
              <a:noFill/>
            </p:spPr>
            <p:txBody>
              <a:bodyPr wrap="square" rtlCol="0">
                <a:spAutoFit/>
              </a:bodyPr>
              <a:lstStyle/>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Scraping</a:t>
                </a:r>
                <a:r>
                  <a:rPr lang="en-US" altLang="en-US" sz="1819" dirty="0">
                    <a:latin typeface="Arial" panose="020B0604020202020204" pitchFamily="34" charset="0"/>
                    <a:cs typeface="Arial" panose="020B0604020202020204" pitchFamily="34" charset="0"/>
                  </a:rPr>
                  <a:t>: HSE Emergency report, with 3 years of publicly available, daily, per hospital total trolley counts [2].</a:t>
                </a:r>
              </a:p>
              <a:p>
                <a:pPr defTabSz="840977" eaLnBrk="0" fontAlgn="base" hangingPunct="0">
                  <a:spcBef>
                    <a:spcPct val="0"/>
                  </a:spcBef>
                  <a:spcAft>
                    <a:spcPct val="0"/>
                  </a:spcAft>
                </a:pPr>
                <a:endParaRPr lang="en-US" altLang="en-US" sz="1819"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Standardization: </a:t>
                </a:r>
                <a:r>
                  <a:rPr lang="en-US" altLang="en-US" sz="1819" dirty="0">
                    <a:latin typeface="Arial" panose="020B0604020202020204" pitchFamily="34" charset="0"/>
                    <a:cs typeface="Arial" panose="020B0604020202020204" pitchFamily="34" charset="0"/>
                  </a:rPr>
                  <a:t>Hospitals were aggregated into HSE Regions. The daily counts were summed to get weekly counts. These counts were population scaled by dividing by the HSE region population and scaled to a rate per 10,000 people (formula 1).</a:t>
                </a:r>
              </a:p>
              <a:p>
                <a:pPr defTabSz="840977" eaLnBrk="0" fontAlgn="base" hangingPunct="0">
                  <a:spcBef>
                    <a:spcPct val="0"/>
                  </a:spcBef>
                  <a:spcAft>
                    <a:spcPct val="0"/>
                  </a:spcAft>
                </a:pPr>
                <a:endParaRPr lang="en-US" sz="1819"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14:m>
                  <m:oMathPara xmlns:m="http://schemas.openxmlformats.org/officeDocument/2006/math">
                    <m:oMathParaPr>
                      <m:jc m:val="centerGroup"/>
                    </m:oMathParaPr>
                    <m:oMath xmlns:m="http://schemas.openxmlformats.org/officeDocument/2006/math">
                      <m:r>
                        <a:rPr lang="en-IE" sz="1299" i="1">
                          <a:latin typeface="Cambria Math" panose="02040503050406030204" pitchFamily="18" charset="0"/>
                        </a:rPr>
                        <m:t>𝑟𝑎𝑡𝑒</m:t>
                      </m:r>
                      <m:r>
                        <a:rPr lang="en-IE" sz="1299" i="1">
                          <a:latin typeface="Cambria Math" panose="02040503050406030204" pitchFamily="18" charset="0"/>
                        </a:rPr>
                        <m:t> </m:t>
                      </m:r>
                      <m:r>
                        <a:rPr lang="en-IE" sz="1299" i="1">
                          <a:latin typeface="Cambria Math" panose="02040503050406030204" pitchFamily="18" charset="0"/>
                        </a:rPr>
                        <m:t>𝑝𝑒𝑟</m:t>
                      </m:r>
                      <m:r>
                        <a:rPr lang="en-IE" sz="1299" i="1">
                          <a:latin typeface="Cambria Math" panose="02040503050406030204" pitchFamily="18" charset="0"/>
                        </a:rPr>
                        <m:t> 10,000 </m:t>
                      </m:r>
                      <m:r>
                        <a:rPr lang="en-IE" sz="1299" i="1">
                          <a:latin typeface="Cambria Math" panose="02040503050406030204" pitchFamily="18" charset="0"/>
                        </a:rPr>
                        <m:t>𝑝𝑒𝑜𝑝𝑙𝑒</m:t>
                      </m:r>
                      <m:r>
                        <a:rPr lang="en-IE" sz="1299" i="1" smtClean="0">
                          <a:latin typeface="Cambria Math" panose="02040503050406030204" pitchFamily="18" charset="0"/>
                        </a:rPr>
                        <m:t>=</m:t>
                      </m:r>
                      <m:r>
                        <a:rPr lang="en-IE" sz="1299" i="1">
                          <a:latin typeface="Cambria Math" panose="02040503050406030204" pitchFamily="18" charset="0"/>
                        </a:rPr>
                        <m:t> </m:t>
                      </m:r>
                      <m:f>
                        <m:fPr>
                          <m:ctrlPr>
                            <a:rPr lang="en-IE" sz="1299" i="1">
                              <a:latin typeface="Cambria Math" panose="02040503050406030204" pitchFamily="18" charset="0"/>
                            </a:rPr>
                          </m:ctrlPr>
                        </m:fPr>
                        <m:num>
                          <m:r>
                            <a:rPr lang="en-US" sz="1299" i="1">
                              <a:latin typeface="Cambria Math" panose="02040503050406030204" pitchFamily="18" charset="0"/>
                            </a:rPr>
                            <m:t> </m:t>
                          </m:r>
                          <m:r>
                            <a:rPr lang="en-IE" sz="1299" i="1">
                              <a:latin typeface="Cambria Math" panose="02040503050406030204" pitchFamily="18" charset="0"/>
                            </a:rPr>
                            <m:t>(</m:t>
                          </m:r>
                          <m:r>
                            <a:rPr lang="en-IE" sz="1299" i="1">
                              <a:latin typeface="Cambria Math" panose="02040503050406030204" pitchFamily="18" charset="0"/>
                            </a:rPr>
                            <m:t>𝑡𝑟𝑜𝑙𝑙𝑒𝑦</m:t>
                          </m:r>
                          <m:r>
                            <a:rPr lang="en-IE" sz="1299" i="1">
                              <a:latin typeface="Cambria Math" panose="02040503050406030204" pitchFamily="18" charset="0"/>
                            </a:rPr>
                            <m:t> </m:t>
                          </m:r>
                          <m:r>
                            <a:rPr lang="en-IE" sz="1299" i="1">
                              <a:latin typeface="Cambria Math" panose="02040503050406030204" pitchFamily="18" charset="0"/>
                            </a:rPr>
                            <m:t>𝑟𝑒𝑔𝑖𝑜𝑛𝑎𝑙</m:t>
                          </m:r>
                          <m:r>
                            <a:rPr lang="en-IE" sz="1299" i="1">
                              <a:latin typeface="Cambria Math" panose="02040503050406030204" pitchFamily="18" charset="0"/>
                            </a:rPr>
                            <m:t> </m:t>
                          </m:r>
                          <m:r>
                            <a:rPr lang="en-US" sz="1299" i="1">
                              <a:latin typeface="Cambria Math" panose="02040503050406030204" pitchFamily="18" charset="0"/>
                            </a:rPr>
                            <m:t>𝑐𝑜𝑢𝑛𝑡</m:t>
                          </m:r>
                          <m:r>
                            <a:rPr lang="en-IE" sz="1299" i="1">
                              <a:latin typeface="Cambria Math" panose="02040503050406030204" pitchFamily="18" charset="0"/>
                            </a:rPr>
                            <m:t>)</m:t>
                          </m:r>
                        </m:num>
                        <m:den>
                          <m:r>
                            <a:rPr lang="en-IE" sz="1299" i="1">
                              <a:latin typeface="Cambria Math" panose="02040503050406030204" pitchFamily="18" charset="0"/>
                            </a:rPr>
                            <m:t>(</m:t>
                          </m:r>
                          <m:r>
                            <a:rPr lang="en-IE" sz="1299" i="1">
                              <a:latin typeface="Cambria Math" panose="02040503050406030204" pitchFamily="18" charset="0"/>
                            </a:rPr>
                            <m:t>𝑟𝑒𝑔𝑖𝑜𝑛</m:t>
                          </m:r>
                          <m:r>
                            <a:rPr lang="en-IE" sz="1299" i="1">
                              <a:latin typeface="Cambria Math" panose="02040503050406030204" pitchFamily="18" charset="0"/>
                            </a:rPr>
                            <m:t> </m:t>
                          </m:r>
                          <m:r>
                            <a:rPr lang="en-IE" sz="1299" i="1">
                              <a:latin typeface="Cambria Math" panose="02040503050406030204" pitchFamily="18" charset="0"/>
                            </a:rPr>
                            <m:t>𝑝𝑜𝑝𝑢𝑙𝑎𝑡𝑖𝑜𝑛</m:t>
                          </m:r>
                          <m:r>
                            <a:rPr lang="en-IE" sz="1299" i="1">
                              <a:latin typeface="Cambria Math" panose="02040503050406030204" pitchFamily="18" charset="0"/>
                            </a:rPr>
                            <m:t>)</m:t>
                          </m:r>
                        </m:den>
                      </m:f>
                      <m:r>
                        <a:rPr lang="en-IE" sz="1299" i="1">
                          <a:latin typeface="Cambria Math" panose="02040503050406030204" pitchFamily="18" charset="0"/>
                          <a:ea typeface="Cambria Math" panose="02040503050406030204" pitchFamily="18" charset="0"/>
                        </a:rPr>
                        <m:t>∙(10000)</m:t>
                      </m:r>
                    </m:oMath>
                  </m:oMathPara>
                </a14:m>
                <a:endParaRPr lang="en-US" altLang="en-US" sz="1299"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endParaRPr lang="en-GB" sz="1600" i="1" dirty="0">
                  <a:solidFill>
                    <a:schemeClr val="bg2">
                      <a:lumMod val="75000"/>
                    </a:schemeClr>
                  </a:solidFill>
                  <a:latin typeface="Arial" panose="020B0604020202020204" pitchFamily="34" charset="0"/>
                  <a:cs typeface="Arial" panose="020B0604020202020204" pitchFamily="34" charset="0"/>
                </a:endParaRPr>
              </a:p>
              <a:p>
                <a:pPr algn="ctr" defTabSz="840977" eaLnBrk="0" fontAlgn="base" hangingPunct="0">
                  <a:spcBef>
                    <a:spcPct val="0"/>
                  </a:spcBef>
                  <a:spcAft>
                    <a:spcPct val="0"/>
                  </a:spcAft>
                </a:pPr>
                <a:r>
                  <a:rPr lang="en-GB" sz="1600" i="1" dirty="0">
                    <a:solidFill>
                      <a:schemeClr val="bg2">
                        <a:lumMod val="75000"/>
                      </a:schemeClr>
                    </a:solidFill>
                    <a:latin typeface="Arial" panose="020B0604020202020204" pitchFamily="34" charset="0"/>
                    <a:cs typeface="Arial" panose="020B0604020202020204" pitchFamily="34" charset="0"/>
                  </a:rPr>
                  <a:t>Formula 1: Calculation for rate per 10,000 people in HSE region</a:t>
                </a:r>
                <a:endParaRPr lang="en-IE" sz="1600" i="1" dirty="0">
                  <a:solidFill>
                    <a:schemeClr val="bg2">
                      <a:lumMod val="75000"/>
                    </a:schemeClr>
                  </a:solidFill>
                  <a:latin typeface="Arial" panose="020B0604020202020204" pitchFamily="34" charset="0"/>
                  <a:cs typeface="Arial" panose="020B0604020202020204" pitchFamily="34" charset="0"/>
                </a:endParaRPr>
              </a:p>
              <a:p>
                <a:pPr defTabSz="840977" eaLnBrk="0" fontAlgn="base" hangingPunct="0">
                  <a:spcBef>
                    <a:spcPct val="0"/>
                  </a:spcBef>
                  <a:spcAft>
                    <a:spcPct val="0"/>
                  </a:spcAft>
                </a:pPr>
                <a:endParaRPr lang="en-US" altLang="en-US" sz="1819" b="1"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Exploratory data analysis</a:t>
                </a:r>
                <a:r>
                  <a:rPr lang="en-US" altLang="en-US" sz="1819" dirty="0">
                    <a:latin typeface="Arial" panose="020B0604020202020204" pitchFamily="34" charset="0"/>
                    <a:cs typeface="Arial" panose="020B0604020202020204" pitchFamily="34" charset="0"/>
                  </a:rPr>
                  <a:t>: Densities, autocorrelations, periodogram and map were computed</a:t>
                </a:r>
                <a:r>
                  <a:rPr lang="en-US" altLang="en-US" sz="1819" i="1" dirty="0">
                    <a:latin typeface="Arial" panose="020B0604020202020204" pitchFamily="34" charset="0"/>
                    <a:cs typeface="Arial" panose="020B0604020202020204" pitchFamily="34" charset="0"/>
                  </a:rPr>
                  <a:t>.</a:t>
                </a:r>
              </a:p>
              <a:p>
                <a:pPr defTabSz="840977" eaLnBrk="0" fontAlgn="base" hangingPunct="0">
                  <a:spcBef>
                    <a:spcPct val="0"/>
                  </a:spcBef>
                  <a:spcAft>
                    <a:spcPct val="0"/>
                  </a:spcAft>
                  <a:buFontTx/>
                  <a:buChar char="•"/>
                </a:pPr>
                <a:endParaRPr lang="en-US" altLang="en-US" sz="1819" b="1" dirty="0">
                  <a:latin typeface="Arial" panose="020B0604020202020204" pitchFamily="34" charset="0"/>
                  <a:cs typeface="Arial" panose="020B0604020202020204" pitchFamily="34" charset="0"/>
                </a:endParaRPr>
              </a:p>
              <a:p>
                <a:pPr defTabSz="840977" eaLnBrk="0" fontAlgn="base" hangingPunct="0">
                  <a:spcBef>
                    <a:spcPct val="0"/>
                  </a:spcBef>
                  <a:spcAft>
                    <a:spcPct val="0"/>
                  </a:spcAft>
                </a:pPr>
                <a:r>
                  <a:rPr lang="en-US" altLang="en-US" sz="1819" b="1" dirty="0">
                    <a:latin typeface="Arial" panose="020B0604020202020204" pitchFamily="34" charset="0"/>
                    <a:cs typeface="Arial" panose="020B0604020202020204" pitchFamily="34" charset="0"/>
                  </a:rPr>
                  <a:t>Preliminary model</a:t>
                </a:r>
                <a:r>
                  <a:rPr lang="en-US" altLang="en-US" sz="1819" dirty="0">
                    <a:latin typeface="Arial" panose="020B0604020202020204" pitchFamily="34" charset="0"/>
                    <a:cs typeface="Arial" panose="020B0604020202020204" pitchFamily="34" charset="0"/>
                  </a:rPr>
                  <a:t>: Annual cycle AR(1) model was built using </a:t>
                </a:r>
                <a:r>
                  <a:rPr lang="en-US" altLang="en-US" sz="1819" i="1" dirty="0">
                    <a:latin typeface="Arial" panose="020B0604020202020204" pitchFamily="34" charset="0"/>
                    <a:cs typeface="Arial" panose="020B0604020202020204" pitchFamily="34" charset="0"/>
                  </a:rPr>
                  <a:t>rJAGs</a:t>
                </a:r>
                <a:r>
                  <a:rPr lang="en-US" altLang="en-US" sz="1819" dirty="0">
                    <a:latin typeface="Arial" panose="020B0604020202020204" pitchFamily="34" charset="0"/>
                    <a:cs typeface="Arial" panose="020B0604020202020204" pitchFamily="34" charset="0"/>
                  </a:rPr>
                  <a:t> and defined by the following formula:</a:t>
                </a:r>
              </a:p>
              <a:p>
                <a:pPr defTabSz="840977" eaLnBrk="0" fontAlgn="base" hangingPunct="0">
                  <a:spcBef>
                    <a:spcPct val="0"/>
                  </a:spcBef>
                  <a:spcAft>
                    <a:spcPct val="0"/>
                  </a:spcAft>
                </a:pPr>
                <a:endParaRPr lang="en-US" altLang="en-US" sz="1819" dirty="0">
                  <a:latin typeface="Arial" panose="020B0604020202020204" pitchFamily="34" charset="0"/>
                  <a:cs typeface="Arial" panose="020B0604020202020204" pitchFamily="34" charset="0"/>
                </a:endParaRPr>
              </a:p>
              <a:p>
                <a:pPr algn="ctr" defTabSz="840977" eaLnBrk="0" fontAlgn="base" hangingPunct="0">
                  <a:spcBef>
                    <a:spcPct val="0"/>
                  </a:spcBef>
                  <a:spcAft>
                    <a:spcPct val="0"/>
                  </a:spcAft>
                </a:pPr>
                <a:r>
                  <a:rPr lang="en-US" altLang="en-US" sz="1559" dirty="0">
                    <a:latin typeface="Arial" panose="020B0604020202020204" pitchFamily="34" charset="0"/>
                    <a:cs typeface="Arial" panose="020B0604020202020204" pitchFamily="34" charset="0"/>
                  </a:rPr>
                  <a:t>Model:</a:t>
                </a:r>
              </a:p>
              <a:p>
                <a:pPr algn="ctr"/>
                <a14:m>
                  <m:oMathPara xmlns:m="http://schemas.openxmlformats.org/officeDocument/2006/math">
                    <m:oMathParaPr>
                      <m:jc m:val="centerGroup"/>
                    </m:oMathParaPr>
                    <m:oMath xmlns:m="http://schemas.openxmlformats.org/officeDocument/2006/math">
                      <m:r>
                        <a:rPr lang="en-US" sz="1559" i="1" dirty="0">
                          <a:latin typeface="Cambria Math" panose="02040503050406030204" pitchFamily="18" charset="0"/>
                          <a:cs typeface="Arial" panose="020B0604020202020204" pitchFamily="34" charset="0"/>
                        </a:rPr>
                        <m:t> </m:t>
                      </m:r>
                      <m:sSub>
                        <m:sSubPr>
                          <m:ctrlPr>
                            <a:rPr lang="en-US" sz="1559" i="1" dirty="0">
                              <a:latin typeface="Cambria Math" panose="02040503050406030204" pitchFamily="18" charset="0"/>
                              <a:cs typeface="Arial" panose="020B0604020202020204" pitchFamily="34" charset="0"/>
                            </a:rPr>
                          </m:ctrlPr>
                        </m:sSubPr>
                        <m:e>
                          <m:r>
                            <a:rPr lang="en-US" sz="1559" i="1" dirty="0">
                              <a:latin typeface="Cambria Math" panose="02040503050406030204" pitchFamily="18" charset="0"/>
                              <a:cs typeface="Arial" panose="020B0604020202020204" pitchFamily="34" charset="0"/>
                            </a:rPr>
                            <m:t>𝑦</m:t>
                          </m:r>
                        </m:e>
                        <m:sub>
                          <m:r>
                            <a:rPr lang="en-US" sz="1559" i="1" dirty="0">
                              <a:latin typeface="Cambria Math" panose="02040503050406030204" pitchFamily="18" charset="0"/>
                              <a:cs typeface="Arial" panose="020B0604020202020204" pitchFamily="34" charset="0"/>
                            </a:rPr>
                            <m:t>𝑖</m:t>
                          </m:r>
                          <m:r>
                            <a:rPr lang="en-US" sz="1559" i="1" dirty="0">
                              <a:latin typeface="Cambria Math" panose="02040503050406030204" pitchFamily="18" charset="0"/>
                              <a:cs typeface="Arial" panose="020B0604020202020204" pitchFamily="34" charset="0"/>
                            </a:rPr>
                            <m:t>,</m:t>
                          </m:r>
                          <m:r>
                            <a:rPr lang="en-US" sz="1559" i="1" dirty="0">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r>
                        <a:rPr lang="en-US" sz="1559" i="1" smtClean="0">
                          <a:latin typeface="Cambria Math" panose="02040503050406030204" pitchFamily="18" charset="0"/>
                          <a:cs typeface="Arial" panose="020B0604020202020204" pitchFamily="34" charset="0"/>
                        </a:rPr>
                        <m:t>𝒩</m:t>
                      </m:r>
                      <m:d>
                        <m:dPr>
                          <m:ctrlPr>
                            <a:rPr lang="en-US" sz="1559" i="1">
                              <a:latin typeface="Cambria Math" panose="02040503050406030204" pitchFamily="18" charset="0"/>
                              <a:cs typeface="Arial" panose="020B0604020202020204" pitchFamily="34" charset="0"/>
                            </a:rPr>
                          </m:ctrlPr>
                        </m:dPr>
                        <m:e>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𝜇</m:t>
                              </m:r>
                            </m:e>
                            <m:sub>
                              <m:d>
                                <m:dPr>
                                  <m:begChr m:val="{"/>
                                  <m:endChr m:val="}"/>
                                  <m:ctrlPr>
                                    <a:rPr lang="en-US" sz="1559" i="1">
                                      <a:latin typeface="Cambria Math" panose="02040503050406030204" pitchFamily="18" charset="0"/>
                                      <a:cs typeface="Arial" panose="020B0604020202020204" pitchFamily="34" charset="0"/>
                                    </a:rPr>
                                  </m:ctrlPr>
                                </m:dPr>
                                <m:e>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,1</m:t>
                                  </m:r>
                                </m:e>
                              </m:d>
                            </m:sub>
                          </m:sSub>
                          <m:r>
                            <a:rPr lang="en-US" sz="1559" i="1">
                              <a:latin typeface="Cambria Math" panose="02040503050406030204" pitchFamily="18" charset="0"/>
                              <a:cs typeface="Arial" panose="020B0604020202020204" pitchFamily="34" charset="0"/>
                            </a:rPr>
                            <m:t> </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𝜏</m:t>
                              </m:r>
                            </m:e>
                            <m:sub>
                              <m:r>
                                <a:rPr lang="en-US" sz="1559" i="1">
                                  <a:latin typeface="Cambria Math" panose="02040503050406030204" pitchFamily="18" charset="0"/>
                                  <a:cs typeface="Arial" panose="020B0604020202020204" pitchFamily="34" charset="0"/>
                                </a:rPr>
                                <m:t>𝑖</m:t>
                              </m:r>
                            </m:sub>
                          </m:sSub>
                        </m:e>
                      </m:d>
                    </m:oMath>
                  </m:oMathPara>
                </a14:m>
                <a:endParaRPr lang="en-US" sz="1559" dirty="0">
                  <a:latin typeface="Cambria Math" panose="02040503050406030204" pitchFamily="18"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r>
                        <a:rPr lang="en-US" sz="1559" i="1" dirty="0" smtClean="0">
                          <a:latin typeface="Cambria Math" panose="02040503050406030204" pitchFamily="18" charset="0"/>
                          <a:cs typeface="Arial" panose="020B0604020202020204" pitchFamily="34" charset="0"/>
                        </a:rPr>
                        <m:t> </m:t>
                      </m:r>
                      <m:sSub>
                        <m:sSubPr>
                          <m:ctrlPr>
                            <a:rPr lang="en-US" sz="1559" b="0" i="1" dirty="0" smtClean="0">
                              <a:latin typeface="Cambria Math" panose="02040503050406030204" pitchFamily="18" charset="0"/>
                              <a:cs typeface="Arial" panose="020B0604020202020204" pitchFamily="34" charset="0"/>
                            </a:rPr>
                          </m:ctrlPr>
                        </m:sSubPr>
                        <m:e>
                          <m:r>
                            <a:rPr lang="en-US" sz="1559" b="0" i="1" dirty="0" smtClean="0">
                              <a:latin typeface="Cambria Math" panose="02040503050406030204" pitchFamily="18" charset="0"/>
                              <a:cs typeface="Arial" panose="020B0604020202020204" pitchFamily="34" charset="0"/>
                            </a:rPr>
                            <m:t>𝑦</m:t>
                          </m:r>
                        </m:e>
                        <m:sub>
                          <m:r>
                            <a:rPr lang="en-US" sz="1559" b="0" i="1" dirty="0" smtClean="0">
                              <a:latin typeface="Cambria Math" panose="02040503050406030204" pitchFamily="18" charset="0"/>
                              <a:cs typeface="Arial" panose="020B0604020202020204" pitchFamily="34" charset="0"/>
                            </a:rPr>
                            <m:t>𝑖</m:t>
                          </m:r>
                          <m:r>
                            <a:rPr lang="en-US" sz="1559" b="0" i="1" dirty="0" smtClean="0">
                              <a:latin typeface="Cambria Math" panose="02040503050406030204" pitchFamily="18" charset="0"/>
                              <a:cs typeface="Arial" panose="020B0604020202020204" pitchFamily="34" charset="0"/>
                            </a:rPr>
                            <m:t>,</m:t>
                          </m:r>
                          <m:r>
                            <a:rPr lang="en-US" sz="1559" b="0" i="1" dirty="0" smtClean="0">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r>
                        <a:rPr lang="en-US" sz="1559" b="0" i="1" smtClean="0">
                          <a:latin typeface="Cambria Math" panose="02040503050406030204" pitchFamily="18" charset="0"/>
                          <a:cs typeface="Arial" panose="020B0604020202020204" pitchFamily="34" charset="0"/>
                        </a:rPr>
                        <m:t>𝒩</m:t>
                      </m:r>
                      <m:d>
                        <m:dPr>
                          <m:ctrlPr>
                            <a:rPr lang="en-US" sz="1559" b="0" i="1" smtClean="0">
                              <a:latin typeface="Cambria Math" panose="02040503050406030204" pitchFamily="18" charset="0"/>
                              <a:cs typeface="Arial" panose="020B0604020202020204" pitchFamily="34" charset="0"/>
                            </a:rPr>
                          </m:ctrlPr>
                        </m:dPr>
                        <m:e>
                          <m:sSub>
                            <m:sSubPr>
                              <m:ctrlPr>
                                <a:rPr lang="en-US" sz="1559" b="0" i="1" smtClean="0">
                                  <a:latin typeface="Cambria Math" panose="02040503050406030204" pitchFamily="18" charset="0"/>
                                  <a:cs typeface="Arial" panose="020B0604020202020204" pitchFamily="34" charset="0"/>
                                </a:rPr>
                              </m:ctrlPr>
                            </m:sSubPr>
                            <m:e>
                              <m:r>
                                <a:rPr lang="en-US" sz="1559" b="0" i="1">
                                  <a:latin typeface="Cambria Math" panose="02040503050406030204" pitchFamily="18" charset="0"/>
                                  <a:cs typeface="Arial" panose="020B0604020202020204" pitchFamily="34" charset="0"/>
                                </a:rPr>
                                <m:t>𝜇</m:t>
                              </m:r>
                            </m:e>
                            <m:sub>
                              <m:r>
                                <a:rPr lang="en-US" sz="1559" b="0" i="1">
                                  <a:latin typeface="Cambria Math" panose="02040503050406030204" pitchFamily="18" charset="0"/>
                                  <a:cs typeface="Arial" panose="020B0604020202020204" pitchFamily="34" charset="0"/>
                                </a:rPr>
                                <m:t>𝑖</m:t>
                              </m:r>
                              <m:r>
                                <a:rPr lang="en-US" sz="1559" b="0" i="1">
                                  <a:latin typeface="Cambria Math" panose="02040503050406030204" pitchFamily="18" charset="0"/>
                                  <a:cs typeface="Arial" panose="020B0604020202020204" pitchFamily="34" charset="0"/>
                                </a:rPr>
                                <m:t>,</m:t>
                              </m:r>
                              <m:r>
                                <a:rPr lang="en-US" sz="1559" b="0" i="1">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d>
                            <m:dPr>
                              <m:ctrlPr>
                                <a:rPr lang="en-US" sz="1559" i="1">
                                  <a:latin typeface="Cambria Math" panose="02040503050406030204" pitchFamily="18" charset="0"/>
                                  <a:cs typeface="Arial" panose="020B0604020202020204" pitchFamily="34" charset="0"/>
                                </a:rPr>
                              </m:ctrlPr>
                            </m:dPr>
                            <m:e>
                              <m:r>
                                <a:rPr lang="en-US" sz="1559" i="1">
                                  <a:latin typeface="Cambria Math" panose="02040503050406030204" pitchFamily="18" charset="0"/>
                                  <a:cs typeface="Arial" panose="020B0604020202020204" pitchFamily="34" charset="0"/>
                                </a:rPr>
                                <m:t>𝜙</m:t>
                              </m:r>
                              <m:r>
                                <a:rPr lang="en-US" sz="1559" i="1">
                                  <a:latin typeface="Cambria Math" panose="02040503050406030204" pitchFamily="18" charset="0"/>
                                  <a:cs typeface="Arial" panose="020B0604020202020204" pitchFamily="34" charset="0"/>
                                </a:rPr>
                                <m:t>⋅</m:t>
                              </m:r>
                              <m:d>
                                <m:dPr>
                                  <m:ctrlPr>
                                    <a:rPr lang="en-US" sz="1559" i="1" smtClean="0">
                                      <a:latin typeface="Cambria Math" panose="02040503050406030204" pitchFamily="18" charset="0"/>
                                      <a:cs typeface="Arial" panose="020B0604020202020204" pitchFamily="34" charset="0"/>
                                    </a:rPr>
                                  </m:ctrlPr>
                                </m:dPr>
                                <m:e>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𝑦</m:t>
                                      </m:r>
                                    </m:e>
                                    <m:sub>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m:t>
                                      </m:r>
                                      <m:r>
                                        <a:rPr lang="en-US" sz="1559" i="1">
                                          <a:latin typeface="Cambria Math" panose="02040503050406030204" pitchFamily="18" charset="0"/>
                                          <a:cs typeface="Arial" panose="020B0604020202020204" pitchFamily="34" charset="0"/>
                                        </a:rPr>
                                        <m:t>𝑡</m:t>
                                      </m:r>
                                      <m:r>
                                        <a:rPr lang="en-US" sz="1559" i="1">
                                          <a:latin typeface="Cambria Math" panose="02040503050406030204" pitchFamily="18" charset="0"/>
                                          <a:cs typeface="Arial" panose="020B0604020202020204" pitchFamily="34" charset="0"/>
                                        </a:rPr>
                                        <m:t>−1</m:t>
                                      </m:r>
                                    </m:sub>
                                  </m:sSub>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𝜇</m:t>
                                      </m:r>
                                    </m:e>
                                    <m:sub>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m:t>
                                      </m:r>
                                      <m:r>
                                        <a:rPr lang="en-US" sz="1559" i="1">
                                          <a:latin typeface="Cambria Math" panose="02040503050406030204" pitchFamily="18" charset="0"/>
                                          <a:cs typeface="Arial" panose="020B0604020202020204" pitchFamily="34" charset="0"/>
                                        </a:rPr>
                                        <m:t>𝑡</m:t>
                                      </m:r>
                                      <m:r>
                                        <a:rPr lang="en-US" sz="1559" i="1">
                                          <a:latin typeface="Cambria Math" panose="02040503050406030204" pitchFamily="18" charset="0"/>
                                          <a:cs typeface="Arial" panose="020B0604020202020204" pitchFamily="34" charset="0"/>
                                        </a:rPr>
                                        <m:t>−1</m:t>
                                      </m:r>
                                    </m:sub>
                                  </m:sSub>
                                </m:e>
                              </m:d>
                            </m:e>
                          </m:d>
                          <m:r>
                            <a:rPr lang="en-US" sz="1559" i="1">
                              <a:latin typeface="Cambria Math" panose="02040503050406030204" pitchFamily="18" charset="0"/>
                              <a:cs typeface="Arial" panose="020B0604020202020204" pitchFamily="34" charset="0"/>
                            </a:rPr>
                            <m:t>, </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𝜏</m:t>
                              </m:r>
                            </m:e>
                            <m:sub>
                              <m:r>
                                <a:rPr lang="en-US" sz="1559" i="1">
                                  <a:latin typeface="Cambria Math" panose="02040503050406030204" pitchFamily="18" charset="0"/>
                                  <a:cs typeface="Arial" panose="020B0604020202020204" pitchFamily="34" charset="0"/>
                                </a:rPr>
                                <m:t>𝑖</m:t>
                              </m:r>
                            </m:sub>
                          </m:sSub>
                        </m:e>
                      </m:d>
                      <m:r>
                        <a:rPr lang="en-US" sz="1559" i="1">
                          <a:latin typeface="Cambria Math" panose="02040503050406030204" pitchFamily="18" charset="0"/>
                          <a:cs typeface="Arial" panose="020B0604020202020204" pitchFamily="34" charset="0"/>
                        </a:rPr>
                        <m:t>,</m:t>
                      </m:r>
                      <m:r>
                        <a:rPr lang="en-US" sz="1559" i="1" smtClean="0">
                          <a:latin typeface="Cambria Math" panose="02040503050406030204" pitchFamily="18" charset="0"/>
                          <a:cs typeface="Arial" panose="020B0604020202020204" pitchFamily="34" charset="0"/>
                        </a:rPr>
                        <m:t>𝑓𝑜𝑟</m:t>
                      </m:r>
                      <m:r>
                        <a:rPr lang="en-US" sz="1559" b="0" i="1" smtClean="0">
                          <a:latin typeface="Cambria Math" panose="02040503050406030204" pitchFamily="18" charset="0"/>
                          <a:cs typeface="Arial" panose="020B0604020202020204" pitchFamily="34" charset="0"/>
                        </a:rPr>
                        <m:t> </m:t>
                      </m:r>
                      <m:r>
                        <a:rPr lang="en-US" sz="1559" i="1" smtClean="0">
                          <a:latin typeface="Cambria Math" panose="02040503050406030204" pitchFamily="18" charset="0"/>
                          <a:cs typeface="Arial" panose="020B0604020202020204" pitchFamily="34" charset="0"/>
                        </a:rPr>
                        <m:t>𝑡</m:t>
                      </m:r>
                      <m:r>
                        <a:rPr lang="en-US" sz="1559" i="1">
                          <a:latin typeface="Cambria Math" panose="02040503050406030204" pitchFamily="18" charset="0"/>
                          <a:cs typeface="Arial" panose="020B0604020202020204" pitchFamily="34" charset="0"/>
                        </a:rPr>
                        <m:t>&gt;1</m:t>
                      </m:r>
                    </m:oMath>
                  </m:oMathPara>
                </a14:m>
                <a:endParaRPr lang="en-US" sz="1559" dirty="0">
                  <a:latin typeface="Cambria Math" panose="02040503050406030204" pitchFamily="18" charset="0"/>
                  <a:cs typeface="Arial" panose="020B0604020202020204" pitchFamily="34" charset="0"/>
                </a:endParaRPr>
              </a:p>
              <a:p>
                <a:pPr algn="ctr"/>
                <a14:m>
                  <m:oMathPara xmlns:m="http://schemas.openxmlformats.org/officeDocument/2006/math">
                    <m:oMathParaPr>
                      <m:jc m:val="centerGroup"/>
                    </m:oMathParaPr>
                    <m:oMath xmlns:m="http://schemas.openxmlformats.org/officeDocument/2006/math">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𝜇</m:t>
                          </m:r>
                        </m:e>
                        <m:sub>
                          <m:r>
                            <a:rPr lang="en-US" sz="1559" i="1">
                              <a:latin typeface="Cambria Math" panose="02040503050406030204" pitchFamily="18" charset="0"/>
                              <a:cs typeface="Arial" panose="020B0604020202020204" pitchFamily="34" charset="0"/>
                            </a:rPr>
                            <m:t>𝑖</m:t>
                          </m:r>
                          <m:r>
                            <a:rPr lang="en-US" sz="1559" i="1">
                              <a:latin typeface="Cambria Math" panose="02040503050406030204" pitchFamily="18" charset="0"/>
                              <a:cs typeface="Arial" panose="020B0604020202020204" pitchFamily="34" charset="0"/>
                            </a:rPr>
                            <m:t>,</m:t>
                          </m:r>
                          <m:r>
                            <a:rPr lang="en-US" sz="1559" i="1">
                              <a:latin typeface="Cambria Math" panose="02040503050406030204" pitchFamily="18" charset="0"/>
                              <a:cs typeface="Arial" panose="020B0604020202020204" pitchFamily="34" charset="0"/>
                            </a:rPr>
                            <m:t>𝑡</m:t>
                          </m:r>
                        </m:sub>
                      </m:sSub>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𝛼</m:t>
                          </m:r>
                        </m:e>
                        <m:sub>
                          <m:r>
                            <a:rPr lang="en-US" sz="1559" i="1">
                              <a:latin typeface="Cambria Math" panose="02040503050406030204" pitchFamily="18" charset="0"/>
                              <a:cs typeface="Arial" panose="020B0604020202020204" pitchFamily="34" charset="0"/>
                            </a:rPr>
                            <m:t>𝑖</m:t>
                          </m:r>
                        </m:sub>
                      </m:sSub>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𝛽</m:t>
                          </m:r>
                        </m:e>
                        <m:sub>
                          <m:r>
                            <a:rPr lang="en-US" sz="1559" i="1">
                              <a:latin typeface="Cambria Math" panose="02040503050406030204" pitchFamily="18" charset="0"/>
                              <a:cs typeface="Arial" panose="020B0604020202020204" pitchFamily="34" charset="0"/>
                            </a:rPr>
                            <m:t>𝑖</m:t>
                          </m:r>
                        </m:sub>
                      </m:sSub>
                      <m:r>
                        <a:rPr lang="en-US" sz="1559" i="1">
                          <a:latin typeface="Cambria Math" panose="02040503050406030204" pitchFamily="18" charset="0"/>
                          <a:cs typeface="Arial" panose="020B0604020202020204" pitchFamily="34" charset="0"/>
                        </a:rPr>
                        <m:t>⋅</m:t>
                      </m:r>
                      <m:func>
                        <m:funcPr>
                          <m:ctrlPr>
                            <a:rPr lang="en-US" sz="1559" i="1">
                              <a:latin typeface="Cambria Math" panose="02040503050406030204" pitchFamily="18" charset="0"/>
                              <a:cs typeface="Arial" panose="020B0604020202020204" pitchFamily="34" charset="0"/>
                            </a:rPr>
                          </m:ctrlPr>
                        </m:funcPr>
                        <m:fName>
                          <m:r>
                            <m:rPr>
                              <m:sty m:val="p"/>
                            </m:rPr>
                            <a:rPr lang="en-US" sz="1559">
                              <a:latin typeface="Cambria Math" panose="02040503050406030204" pitchFamily="18" charset="0"/>
                              <a:cs typeface="Arial" panose="020B0604020202020204" pitchFamily="34" charset="0"/>
                            </a:rPr>
                            <m:t>cos</m:t>
                          </m:r>
                        </m:fName>
                        <m:e>
                          <m:d>
                            <m:dPr>
                              <m:ctrlPr>
                                <a:rPr lang="en-US" sz="1559" i="1">
                                  <a:latin typeface="Cambria Math" panose="02040503050406030204" pitchFamily="18" charset="0"/>
                                  <a:cs typeface="Arial" panose="020B0604020202020204" pitchFamily="34" charset="0"/>
                                </a:rPr>
                              </m:ctrlPr>
                            </m:dPr>
                            <m:e>
                              <m:f>
                                <m:fPr>
                                  <m:ctrlPr>
                                    <a:rPr lang="en-US" sz="1559" i="1">
                                      <a:latin typeface="Cambria Math" panose="02040503050406030204" pitchFamily="18" charset="0"/>
                                      <a:cs typeface="Arial" panose="020B0604020202020204" pitchFamily="34" charset="0"/>
                                    </a:rPr>
                                  </m:ctrlPr>
                                </m:fPr>
                                <m:num>
                                  <m:r>
                                    <a:rPr lang="en-US" sz="1559" i="1">
                                      <a:latin typeface="Cambria Math" panose="02040503050406030204" pitchFamily="18" charset="0"/>
                                      <a:cs typeface="Arial" panose="020B0604020202020204" pitchFamily="34" charset="0"/>
                                    </a:rPr>
                                    <m:t>2</m:t>
                                  </m:r>
                                  <m:r>
                                    <a:rPr lang="en-US" sz="1559" i="1">
                                      <a:latin typeface="Cambria Math" panose="02040503050406030204" pitchFamily="18" charset="0"/>
                                      <a:cs typeface="Arial" panose="020B0604020202020204" pitchFamily="34" charset="0"/>
                                    </a:rPr>
                                    <m:t>𝜋</m:t>
                                  </m:r>
                                  <m:r>
                                    <a:rPr lang="en-US" sz="1559" i="1">
                                      <a:latin typeface="Cambria Math" panose="02040503050406030204" pitchFamily="18" charset="0"/>
                                      <a:cs typeface="Arial" panose="020B0604020202020204" pitchFamily="34" charset="0"/>
                                    </a:rPr>
                                    <m:t>𝑡</m:t>
                                  </m:r>
                                </m:num>
                                <m:den>
                                  <m:r>
                                    <a:rPr lang="en-US" sz="1559" i="1">
                                      <a:latin typeface="Cambria Math" panose="02040503050406030204" pitchFamily="18" charset="0"/>
                                      <a:cs typeface="Arial" panose="020B0604020202020204" pitchFamily="34" charset="0"/>
                                    </a:rPr>
                                    <m:t>52</m:t>
                                  </m:r>
                                </m:den>
                              </m:f>
                            </m:e>
                          </m:d>
                        </m:e>
                      </m:func>
                      <m:r>
                        <a:rPr lang="en-US" sz="1559" i="1">
                          <a:latin typeface="Cambria Math" panose="02040503050406030204" pitchFamily="18" charset="0"/>
                          <a:cs typeface="Arial" panose="020B0604020202020204" pitchFamily="34" charset="0"/>
                        </a:rPr>
                        <m:t>+</m:t>
                      </m:r>
                      <m:sSub>
                        <m:sSubPr>
                          <m:ctrlPr>
                            <a:rPr lang="en-US" sz="1559" i="1">
                              <a:latin typeface="Cambria Math" panose="02040503050406030204" pitchFamily="18" charset="0"/>
                              <a:cs typeface="Arial" panose="020B0604020202020204" pitchFamily="34" charset="0"/>
                            </a:rPr>
                          </m:ctrlPr>
                        </m:sSubPr>
                        <m:e>
                          <m:r>
                            <a:rPr lang="en-US" sz="1559" i="1">
                              <a:latin typeface="Cambria Math" panose="02040503050406030204" pitchFamily="18" charset="0"/>
                              <a:cs typeface="Arial" panose="020B0604020202020204" pitchFamily="34" charset="0"/>
                            </a:rPr>
                            <m:t>𝛾</m:t>
                          </m:r>
                        </m:e>
                        <m:sub>
                          <m:r>
                            <a:rPr lang="en-US" sz="1559" i="1">
                              <a:latin typeface="Cambria Math" panose="02040503050406030204" pitchFamily="18" charset="0"/>
                              <a:cs typeface="Arial" panose="020B0604020202020204" pitchFamily="34" charset="0"/>
                            </a:rPr>
                            <m:t>𝑖</m:t>
                          </m:r>
                        </m:sub>
                      </m:sSub>
                      <m:r>
                        <a:rPr lang="en-US" sz="1559" i="1">
                          <a:latin typeface="Cambria Math" panose="02040503050406030204" pitchFamily="18" charset="0"/>
                          <a:cs typeface="Arial" panose="020B0604020202020204" pitchFamily="34" charset="0"/>
                        </a:rPr>
                        <m:t>⋅</m:t>
                      </m:r>
                      <m:func>
                        <m:funcPr>
                          <m:ctrlPr>
                            <a:rPr lang="en-US" sz="1559" i="1">
                              <a:latin typeface="Cambria Math" panose="02040503050406030204" pitchFamily="18" charset="0"/>
                              <a:cs typeface="Arial" panose="020B0604020202020204" pitchFamily="34" charset="0"/>
                            </a:rPr>
                          </m:ctrlPr>
                        </m:funcPr>
                        <m:fName>
                          <m:r>
                            <m:rPr>
                              <m:sty m:val="p"/>
                            </m:rPr>
                            <a:rPr lang="en-US" sz="1559">
                              <a:latin typeface="Cambria Math" panose="02040503050406030204" pitchFamily="18" charset="0"/>
                              <a:cs typeface="Arial" panose="020B0604020202020204" pitchFamily="34" charset="0"/>
                            </a:rPr>
                            <m:t>sin</m:t>
                          </m:r>
                        </m:fName>
                        <m:e>
                          <m:d>
                            <m:dPr>
                              <m:ctrlPr>
                                <a:rPr lang="en-US" sz="1559" i="1">
                                  <a:latin typeface="Cambria Math" panose="02040503050406030204" pitchFamily="18" charset="0"/>
                                  <a:cs typeface="Arial" panose="020B0604020202020204" pitchFamily="34" charset="0"/>
                                </a:rPr>
                              </m:ctrlPr>
                            </m:dPr>
                            <m:e>
                              <m:f>
                                <m:fPr>
                                  <m:ctrlPr>
                                    <a:rPr lang="en-US" sz="1559" i="1">
                                      <a:latin typeface="Cambria Math" panose="02040503050406030204" pitchFamily="18" charset="0"/>
                                      <a:cs typeface="Arial" panose="020B0604020202020204" pitchFamily="34" charset="0"/>
                                    </a:rPr>
                                  </m:ctrlPr>
                                </m:fPr>
                                <m:num>
                                  <m:r>
                                    <a:rPr lang="en-US" sz="1559" i="1">
                                      <a:latin typeface="Cambria Math" panose="02040503050406030204" pitchFamily="18" charset="0"/>
                                      <a:cs typeface="Arial" panose="020B0604020202020204" pitchFamily="34" charset="0"/>
                                    </a:rPr>
                                    <m:t>2</m:t>
                                  </m:r>
                                  <m:r>
                                    <a:rPr lang="en-US" sz="1559" i="1">
                                      <a:latin typeface="Cambria Math" panose="02040503050406030204" pitchFamily="18" charset="0"/>
                                      <a:cs typeface="Arial" panose="020B0604020202020204" pitchFamily="34" charset="0"/>
                                    </a:rPr>
                                    <m:t>𝜋</m:t>
                                  </m:r>
                                  <m:r>
                                    <a:rPr lang="en-US" sz="1559" i="1">
                                      <a:latin typeface="Cambria Math" panose="02040503050406030204" pitchFamily="18" charset="0"/>
                                      <a:cs typeface="Arial" panose="020B0604020202020204" pitchFamily="34" charset="0"/>
                                    </a:rPr>
                                    <m:t>𝑡</m:t>
                                  </m:r>
                                </m:num>
                                <m:den>
                                  <m:r>
                                    <a:rPr lang="en-US" sz="1559" i="1">
                                      <a:latin typeface="Cambria Math" panose="02040503050406030204" pitchFamily="18" charset="0"/>
                                      <a:cs typeface="Arial" panose="020B0604020202020204" pitchFamily="34" charset="0"/>
                                    </a:rPr>
                                    <m:t>52</m:t>
                                  </m:r>
                                </m:den>
                              </m:f>
                            </m:e>
                          </m:d>
                        </m:e>
                      </m:func>
                    </m:oMath>
                  </m:oMathPara>
                </a14:m>
                <a:endParaRPr lang="en-US" sz="1559" dirty="0">
                  <a:latin typeface="Cambria Math" panose="02040503050406030204" pitchFamily="18" charset="0"/>
                  <a:cs typeface="Arial" panose="020B0604020202020204" pitchFamily="34" charset="0"/>
                </a:endParaRPr>
              </a:p>
              <a:p>
                <a:endParaRPr lang="en-US" sz="1559" dirty="0">
                  <a:latin typeface="Arial" panose="020B0604020202020204" pitchFamily="34" charset="0"/>
                  <a:cs typeface="Arial" panose="020B0604020202020204" pitchFamily="34" charset="0"/>
                </a:endParaRPr>
              </a:p>
              <a:p>
                <a:pPr algn="ctr"/>
                <a:r>
                  <a:rPr lang="en-US" sz="1559" dirty="0">
                    <a:latin typeface="Arial" panose="020B0604020202020204" pitchFamily="34" charset="0"/>
                    <a:cs typeface="Arial" panose="020B0604020202020204" pitchFamily="34" charset="0"/>
                  </a:rPr>
                  <a:t>Priors:</a:t>
                </a:r>
              </a:p>
              <a:p>
                <a:pPr/>
                <a14:m>
                  <m:oMathPara xmlns:m="http://schemas.openxmlformats.org/officeDocument/2006/math">
                    <m:oMathParaPr>
                      <m:jc m:val="centerGroup"/>
                    </m:oMathParaPr>
                    <m:oMath xmlns:m="http://schemas.openxmlformats.org/officeDocument/2006/math">
                      <m:sSub>
                        <m:sSubPr>
                          <m:ctrlPr>
                            <a:rPr lang="en-US" sz="1299" i="1">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𝛼</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𝒩</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0, 0.001</m:t>
                          </m:r>
                        </m:e>
                      </m:d>
                    </m:oMath>
                  </m:oMathPara>
                </a14:m>
                <a:endParaRPr lang="en-US" sz="1299"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299" i="1">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𝛽</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𝒩</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0, 0.001</m:t>
                          </m:r>
                        </m:e>
                      </m:d>
                    </m:oMath>
                  </m:oMathPara>
                </a14:m>
                <a:endParaRPr lang="en-US" sz="1299"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r>
                        <a:rPr lang="en-US" sz="1299" i="1">
                          <a:latin typeface="Cambria Math" panose="02040503050406030204" pitchFamily="18" charset="0"/>
                          <a:cs typeface="Arial" panose="020B0604020202020204" pitchFamily="34" charset="0"/>
                        </a:rPr>
                        <m:t> </m:t>
                      </m:r>
                      <m:sSub>
                        <m:sSubPr>
                          <m:ctrlPr>
                            <a:rPr lang="en-US" sz="1299" i="1">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𝛾</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𝒩</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0, 0.001</m:t>
                          </m:r>
                        </m:e>
                      </m:d>
                    </m:oMath>
                  </m:oMathPara>
                </a14:m>
                <a:endParaRPr lang="en-US" sz="1299" i="1" dirty="0">
                  <a:latin typeface="Cambria Math" panose="02040503050406030204" pitchFamily="18" charset="0"/>
                  <a:cs typeface="Arial" panose="020B0604020202020204" pitchFamily="34" charset="0"/>
                </a:endParaRPr>
              </a:p>
              <a:p>
                <a:pPr/>
                <a14:m>
                  <m:oMathPara xmlns:m="http://schemas.openxmlformats.org/officeDocument/2006/math">
                    <m:oMathParaPr>
                      <m:jc m:val="centerGroup"/>
                    </m:oMathParaPr>
                    <m:oMath xmlns:m="http://schemas.openxmlformats.org/officeDocument/2006/math">
                      <m:sSub>
                        <m:sSubPr>
                          <m:ctrlPr>
                            <a:rPr lang="en-US" sz="1299" i="1" smtClean="0">
                              <a:latin typeface="Cambria Math" panose="02040503050406030204" pitchFamily="18" charset="0"/>
                              <a:cs typeface="Arial" panose="020B0604020202020204" pitchFamily="34" charset="0"/>
                            </a:rPr>
                          </m:ctrlPr>
                        </m:sSubPr>
                        <m:e>
                          <m:r>
                            <a:rPr lang="en-US" sz="1299" i="1">
                              <a:latin typeface="Cambria Math" panose="02040503050406030204" pitchFamily="18" charset="0"/>
                              <a:cs typeface="Arial" panose="020B0604020202020204" pitchFamily="34" charset="0"/>
                            </a:rPr>
                            <m:t>𝜏</m:t>
                          </m:r>
                        </m:e>
                        <m:sub>
                          <m:r>
                            <a:rPr lang="en-US" sz="1299" i="1">
                              <a:latin typeface="Cambria Math" panose="02040503050406030204" pitchFamily="18" charset="0"/>
                              <a:cs typeface="Arial" panose="020B0604020202020204" pitchFamily="34" charset="0"/>
                            </a:rPr>
                            <m:t>𝑖</m:t>
                          </m:r>
                        </m:sub>
                      </m:sSub>
                      <m:r>
                        <a:rPr lang="en-US" sz="1299" i="1">
                          <a:latin typeface="Cambria Math" panose="02040503050406030204" pitchFamily="18" charset="0"/>
                          <a:cs typeface="Arial" panose="020B0604020202020204" pitchFamily="34" charset="0"/>
                        </a:rPr>
                        <m:t>∼</m:t>
                      </m:r>
                      <m:r>
                        <a:rPr lang="en-US" sz="1400" i="1">
                          <a:latin typeface="Cambria Math" panose="02040503050406030204" pitchFamily="18" charset="0"/>
                          <a:cs typeface="Arial" panose="020B0604020202020204" pitchFamily="34" charset="0"/>
                        </a:rPr>
                        <m:t>𝛾</m:t>
                      </m:r>
                      <m:d>
                        <m:dPr>
                          <m:ctrlPr>
                            <a:rPr lang="en-US" sz="1299" i="1">
                              <a:latin typeface="Cambria Math" panose="02040503050406030204" pitchFamily="18" charset="0"/>
                              <a:cs typeface="Arial" panose="020B0604020202020204" pitchFamily="34" charset="0"/>
                            </a:rPr>
                          </m:ctrlPr>
                        </m:dPr>
                        <m:e>
                          <m:r>
                            <a:rPr lang="en-US" sz="1299" i="1">
                              <a:latin typeface="Cambria Math" panose="02040503050406030204" pitchFamily="18" charset="0"/>
                              <a:cs typeface="Arial" panose="020B0604020202020204" pitchFamily="34" charset="0"/>
                            </a:rPr>
                            <m:t>0.001,0.001</m:t>
                          </m:r>
                        </m:e>
                      </m:d>
                    </m:oMath>
                  </m:oMathPara>
                </a14:m>
                <a:endParaRPr lang="en-US" sz="1299" dirty="0">
                  <a:latin typeface="Arial" panose="020B0604020202020204" pitchFamily="34" charset="0"/>
                  <a:cs typeface="Arial" panose="020B0604020202020204" pitchFamily="34" charset="0"/>
                </a:endParaRPr>
              </a:p>
              <a:p>
                <a:endParaRPr lang="en-US" sz="1299" dirty="0">
                  <a:latin typeface="Arial" panose="020B0604020202020204" pitchFamily="34" charset="0"/>
                  <a:cs typeface="Arial" panose="020B0604020202020204" pitchFamily="34" charset="0"/>
                </a:endParaRPr>
              </a:p>
              <a:p>
                <a:pPr algn="ctr"/>
                <a:r>
                  <a:rPr lang="en-GB" sz="1400" i="1" dirty="0">
                    <a:solidFill>
                      <a:schemeClr val="bg2">
                        <a:lumMod val="75000"/>
                      </a:schemeClr>
                    </a:solidFill>
                    <a:latin typeface="Arial" panose="020B0604020202020204" pitchFamily="34" charset="0"/>
                    <a:cs typeface="Arial" panose="020B0604020202020204" pitchFamily="34" charset="0"/>
                  </a:rPr>
                  <a:t>Formula 2: AR(1) with annual cycle component model definition. Priors for all variables set to be uninformative. </a:t>
                </a:r>
                <a14:m>
                  <m:oMath xmlns:m="http://schemas.openxmlformats.org/officeDocument/2006/math">
                    <m:r>
                      <a:rPr lang="en-US" sz="1400" i="1">
                        <a:solidFill>
                          <a:schemeClr val="bg2">
                            <a:lumMod val="75000"/>
                          </a:schemeClr>
                        </a:solidFill>
                        <a:latin typeface="Cambria Math" panose="02040503050406030204" pitchFamily="18" charset="0"/>
                        <a:cs typeface="Arial" panose="020B0604020202020204" pitchFamily="34" charset="0"/>
                      </a:rPr>
                      <m:t>𝑖</m:t>
                    </m:r>
                  </m:oMath>
                </a14:m>
                <a:r>
                  <a:rPr lang="en-GB" sz="1400" i="1" dirty="0">
                    <a:solidFill>
                      <a:schemeClr val="bg2">
                        <a:lumMod val="75000"/>
                      </a:schemeClr>
                    </a:solidFill>
                    <a:latin typeface="Arial" panose="020B0604020202020204" pitchFamily="34" charset="0"/>
                    <a:cs typeface="Arial" panose="020B0604020202020204" pitchFamily="34" charset="0"/>
                  </a:rPr>
                  <a:t> represents HSE regions, and </a:t>
                </a:r>
                <a14:m>
                  <m:oMath xmlns:m="http://schemas.openxmlformats.org/officeDocument/2006/math">
                    <m:r>
                      <a:rPr lang="en-US" sz="1400" i="1">
                        <a:solidFill>
                          <a:schemeClr val="bg2">
                            <a:lumMod val="75000"/>
                          </a:schemeClr>
                        </a:solidFill>
                        <a:latin typeface="Cambria Math" panose="02040503050406030204" pitchFamily="18" charset="0"/>
                        <a:cs typeface="Arial" panose="020B0604020202020204" pitchFamily="34" charset="0"/>
                      </a:rPr>
                      <m:t>𝑡</m:t>
                    </m:r>
                  </m:oMath>
                </a14:m>
                <a:r>
                  <a:rPr lang="en-GB" sz="1400" i="1" dirty="0">
                    <a:solidFill>
                      <a:schemeClr val="bg2">
                        <a:lumMod val="75000"/>
                      </a:schemeClr>
                    </a:solidFill>
                    <a:latin typeface="Arial" panose="020B0604020202020204" pitchFamily="34" charset="0"/>
                    <a:cs typeface="Arial" panose="020B0604020202020204" pitchFamily="34" charset="0"/>
                  </a:rPr>
                  <a:t> represents weeks. Note: </a:t>
                </a:r>
                <a14:m>
                  <m:oMath xmlns:m="http://schemas.openxmlformats.org/officeDocument/2006/math">
                    <m:r>
                      <a:rPr lang="en-US" sz="1400" i="1">
                        <a:solidFill>
                          <a:schemeClr val="bg2">
                            <a:lumMod val="75000"/>
                          </a:schemeClr>
                        </a:solidFill>
                        <a:latin typeface="Cambria Math" panose="02040503050406030204" pitchFamily="18" charset="0"/>
                        <a:cs typeface="Arial" panose="020B0604020202020204" pitchFamily="34" charset="0"/>
                      </a:rPr>
                      <m:t>𝜏</m:t>
                    </m:r>
                  </m:oMath>
                </a14:m>
                <a:r>
                  <a:rPr lang="en-IE" sz="1400" i="1" dirty="0">
                    <a:solidFill>
                      <a:schemeClr val="bg2">
                        <a:lumMod val="75000"/>
                      </a:schemeClr>
                    </a:solidFill>
                    <a:latin typeface="Arial" panose="020B0604020202020204" pitchFamily="34" charset="0"/>
                    <a:cs typeface="Arial" panose="020B0604020202020204" pitchFamily="34" charset="0"/>
                  </a:rPr>
                  <a:t> is precision.</a:t>
                </a:r>
              </a:p>
              <a:p>
                <a:pPr algn="ctr"/>
                <a:endParaRPr lang="en-US" sz="1299" dirty="0">
                  <a:latin typeface="Arial" panose="020B0604020202020204" pitchFamily="34" charset="0"/>
                  <a:cs typeface="Arial" panose="020B0604020202020204" pitchFamily="34" charset="0"/>
                </a:endParaRPr>
              </a:p>
            </p:txBody>
          </p:sp>
        </mc:Choice>
        <mc:Fallback>
          <p:sp>
            <p:nvSpPr>
              <p:cNvPr id="6" name="TextBox 5">
                <a:extLst>
                  <a:ext uri="{FF2B5EF4-FFF2-40B4-BE49-F238E27FC236}">
                    <a16:creationId xmlns:a16="http://schemas.microsoft.com/office/drawing/2014/main" id="{DD74DFE3-4145-46D0-855B-FBDD1AF9F68D}"/>
                  </a:ext>
                </a:extLst>
              </p:cNvPr>
              <p:cNvSpPr txBox="1">
                <a:spLocks noRot="1" noChangeAspect="1" noMove="1" noResize="1" noEditPoints="1" noAdjustHandles="1" noChangeArrowheads="1" noChangeShapeType="1" noTextEdit="1"/>
              </p:cNvSpPr>
              <p:nvPr/>
            </p:nvSpPr>
            <p:spPr>
              <a:xfrm>
                <a:off x="1124062" y="11135666"/>
                <a:ext cx="6867963" cy="8855501"/>
              </a:xfrm>
              <a:prstGeom prst="rect">
                <a:avLst/>
              </a:prstGeom>
              <a:blipFill>
                <a:blip r:embed="rId5"/>
                <a:stretch>
                  <a:fillRect l="-738" t="-287" r="-738"/>
                </a:stretch>
              </a:blipFill>
            </p:spPr>
            <p:txBody>
              <a:bodyPr/>
              <a:lstStyle/>
              <a:p>
                <a:r>
                  <a:rPr lang="en-US">
                    <a:noFill/>
                  </a:rPr>
                  <a:t> </a:t>
                </a:r>
              </a:p>
            </p:txBody>
          </p:sp>
        </mc:Fallback>
      </mc:AlternateContent>
      <p:sp>
        <p:nvSpPr>
          <p:cNvPr id="10" name="Google Shape;60;p13">
            <a:extLst>
              <a:ext uri="{FF2B5EF4-FFF2-40B4-BE49-F238E27FC236}">
                <a16:creationId xmlns:a16="http://schemas.microsoft.com/office/drawing/2014/main" id="{1E29C51F-6D65-BA52-94D9-BEA248CFD7CE}"/>
              </a:ext>
            </a:extLst>
          </p:cNvPr>
          <p:cNvSpPr/>
          <p:nvPr/>
        </p:nvSpPr>
        <p:spPr>
          <a:xfrm>
            <a:off x="22337195" y="3282628"/>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Overview </a:t>
            </a:r>
            <a:r>
              <a:rPr lang="en" sz="3118" b="1">
                <a:solidFill>
                  <a:srgbClr val="FFFFFF"/>
                </a:solidFill>
                <a:latin typeface="Arial" panose="020B0604020202020204" pitchFamily="34" charset="0"/>
                <a:ea typeface="Fira Sans"/>
                <a:cs typeface="Arial" panose="020B0604020202020204" pitchFamily="34" charset="0"/>
                <a:sym typeface="Fira Sans"/>
              </a:rPr>
              <a:t>of </a:t>
            </a:r>
            <a:r>
              <a:rPr lang="en" sz="3118" b="1" dirty="0">
                <a:solidFill>
                  <a:srgbClr val="FFFFFF"/>
                </a:solidFill>
                <a:latin typeface="Arial" panose="020B0604020202020204" pitchFamily="34" charset="0"/>
                <a:ea typeface="Fira Sans"/>
                <a:cs typeface="Arial" panose="020B0604020202020204" pitchFamily="34" charset="0"/>
                <a:sym typeface="Fira Sans"/>
              </a:rPr>
              <a:t>Health Regions</a:t>
            </a:r>
          </a:p>
          <a:p>
            <a:pPr algn="ctr">
              <a:buClr>
                <a:srgbClr val="FFFFFF"/>
              </a:buClr>
              <a:buSzPts val="4800"/>
            </a:pPr>
            <a:endParaRPr sz="611"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FAB09379-08C4-DDB4-EE34-E17E1FAC4308}"/>
              </a:ext>
            </a:extLst>
          </p:cNvPr>
          <p:cNvSpPr txBox="1"/>
          <p:nvPr/>
        </p:nvSpPr>
        <p:spPr>
          <a:xfrm>
            <a:off x="15404195" y="17373206"/>
            <a:ext cx="6611109" cy="3601627"/>
          </a:xfrm>
          <a:prstGeom prst="rect">
            <a:avLst/>
          </a:prstGeom>
          <a:noFill/>
        </p:spPr>
        <p:txBody>
          <a:bodyPr wrap="square" rtlCol="0">
            <a:spAutoFit/>
          </a:bodyPr>
          <a:lstStyle/>
          <a:p>
            <a:r>
              <a:rPr lang="en-GB" sz="1754" dirty="0">
                <a:latin typeface="Arial" panose="020B0604020202020204" pitchFamily="34" charset="0"/>
                <a:cs typeface="Arial" panose="020B0604020202020204" pitchFamily="34" charset="0"/>
              </a:rPr>
              <a:t>Ongoing work focuses on rigorously significant testing for our existing model and modelling spikes. Extending the analysis from weekly aggregates to </a:t>
            </a:r>
            <a:r>
              <a:rPr lang="en-GB" sz="1754" b="1" dirty="0">
                <a:latin typeface="Arial" panose="020B0604020202020204" pitchFamily="34" charset="0"/>
                <a:cs typeface="Arial" panose="020B0604020202020204" pitchFamily="34" charset="0"/>
              </a:rPr>
              <a:t>daily-level modelling </a:t>
            </a:r>
            <a:r>
              <a:rPr lang="en-GB" sz="1754" dirty="0">
                <a:latin typeface="Arial" panose="020B0604020202020204" pitchFamily="34" charset="0"/>
                <a:cs typeface="Arial" panose="020B0604020202020204" pitchFamily="34" charset="0"/>
              </a:rPr>
              <a:t>and model selection for a future </a:t>
            </a:r>
            <a:r>
              <a:rPr lang="en-GB" sz="1754" b="1" dirty="0">
                <a:latin typeface="Arial" panose="020B0604020202020204" pitchFamily="34" charset="0"/>
                <a:cs typeface="Arial" panose="020B0604020202020204" pitchFamily="34" charset="0"/>
              </a:rPr>
              <a:t>ARMA </a:t>
            </a:r>
            <a:r>
              <a:rPr lang="en-GB" sz="1754" dirty="0">
                <a:latin typeface="Arial" panose="020B0604020202020204" pitchFamily="34" charset="0"/>
                <a:cs typeface="Arial" panose="020B0604020202020204" pitchFamily="34" charset="0"/>
              </a:rPr>
              <a:t>model.</a:t>
            </a:r>
          </a:p>
          <a:p>
            <a:endParaRPr lang="en-GB" sz="1754" dirty="0">
              <a:latin typeface="Arial" panose="020B0604020202020204" pitchFamily="34" charset="0"/>
              <a:cs typeface="Arial" panose="020B0604020202020204" pitchFamily="34" charset="0"/>
            </a:endParaRPr>
          </a:p>
          <a:p>
            <a:r>
              <a:rPr lang="en-GB" sz="1754" dirty="0">
                <a:latin typeface="Arial" panose="020B0604020202020204" pitchFamily="34" charset="0"/>
                <a:cs typeface="Arial" panose="020B0604020202020204" pitchFamily="34" charset="0"/>
              </a:rPr>
              <a:t>Our long term objective is to </a:t>
            </a:r>
            <a:r>
              <a:rPr lang="en-GB" sz="1754" b="1" dirty="0">
                <a:latin typeface="Arial" panose="020B0604020202020204" pitchFamily="34" charset="0"/>
                <a:cs typeface="Arial" panose="020B0604020202020204" pitchFamily="34" charset="0"/>
              </a:rPr>
              <a:t>apply a Bayesian ranking framework</a:t>
            </a:r>
            <a:r>
              <a:rPr lang="en-GB" sz="1754" dirty="0">
                <a:latin typeface="Arial" panose="020B0604020202020204" pitchFamily="34" charset="0"/>
                <a:cs typeface="Arial" panose="020B0604020202020204" pitchFamily="34" charset="0"/>
              </a:rPr>
              <a:t>[5] to order HSE health regions according to levels of system stress, defined here as sustained or extreme demand for inpatient beds as reflected by elevated trolley counts.</a:t>
            </a:r>
          </a:p>
          <a:p>
            <a:endParaRPr lang="en-GB" sz="1754" dirty="0">
              <a:latin typeface="Arial" panose="020B0604020202020204" pitchFamily="34" charset="0"/>
              <a:cs typeface="Arial" panose="020B0604020202020204" pitchFamily="34" charset="0"/>
            </a:endParaRPr>
          </a:p>
          <a:p>
            <a:r>
              <a:rPr lang="en-GB" sz="1754" dirty="0">
                <a:latin typeface="Arial" panose="020B0604020202020204" pitchFamily="34" charset="0"/>
                <a:cs typeface="Arial" panose="020B0604020202020204" pitchFamily="34" charset="0"/>
              </a:rPr>
              <a:t>Beyond these frameworks, there is scope to extend the modelling approach for development of live time series models of hospital pressure with an online dashboard.</a:t>
            </a:r>
            <a:endParaRPr lang="en-IE" sz="611" dirty="0">
              <a:latin typeface="Arial" panose="020B0604020202020204" pitchFamily="34" charset="0"/>
              <a:cs typeface="Arial" panose="020B0604020202020204" pitchFamily="34" charset="0"/>
            </a:endParaRPr>
          </a:p>
        </p:txBody>
      </p:sp>
      <p:sp>
        <p:nvSpPr>
          <p:cNvPr id="7" name="Google Shape;60;p13">
            <a:extLst>
              <a:ext uri="{FF2B5EF4-FFF2-40B4-BE49-F238E27FC236}">
                <a16:creationId xmlns:a16="http://schemas.microsoft.com/office/drawing/2014/main" id="{F060DB13-55A2-1125-39B4-26B224645798}"/>
              </a:ext>
            </a:extLst>
          </p:cNvPr>
          <p:cNvSpPr/>
          <p:nvPr/>
        </p:nvSpPr>
        <p:spPr>
          <a:xfrm>
            <a:off x="22523462" y="14233534"/>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GITHUB Link</a:t>
            </a:r>
          </a:p>
        </p:txBody>
      </p:sp>
      <p:sp>
        <p:nvSpPr>
          <p:cNvPr id="13" name="TextBox 12">
            <a:extLst>
              <a:ext uri="{FF2B5EF4-FFF2-40B4-BE49-F238E27FC236}">
                <a16:creationId xmlns:a16="http://schemas.microsoft.com/office/drawing/2014/main" id="{C6CFB160-FA58-43BB-A712-040E6E8831FB}"/>
              </a:ext>
            </a:extLst>
          </p:cNvPr>
          <p:cNvSpPr txBox="1"/>
          <p:nvPr/>
        </p:nvSpPr>
        <p:spPr>
          <a:xfrm>
            <a:off x="8280222" y="7975247"/>
            <a:ext cx="6701482"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1:  PACF of daily on trolley rates per 10,000 residents for HSE Dublin and Midlands. Shaded region is the significance threshold. </a:t>
            </a:r>
            <a:endParaRPr lang="en-IE" sz="780" i="1" dirty="0">
              <a:solidFill>
                <a:schemeClr val="bg2">
                  <a:lumMod val="7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7600E469-0599-ED45-6319-1B4E8BC0C7D9}"/>
              </a:ext>
            </a:extLst>
          </p:cNvPr>
          <p:cNvSpPr txBox="1"/>
          <p:nvPr/>
        </p:nvSpPr>
        <p:spPr>
          <a:xfrm>
            <a:off x="8355329" y="12762184"/>
            <a:ext cx="6667047"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2:  PACF of weekly trolley rates per 10,000 residents for HSE Dublin and Midlands. Shaded region is the significance threshold. </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02F15AC-5442-9DB9-9892-731071AD7A85}"/>
                  </a:ext>
                </a:extLst>
              </p:cNvPr>
              <p:cNvSpPr txBox="1"/>
              <p:nvPr/>
            </p:nvSpPr>
            <p:spPr>
              <a:xfrm>
                <a:off x="8193050" y="18328077"/>
                <a:ext cx="6569351" cy="2611869"/>
              </a:xfrm>
              <a:prstGeom prst="rect">
                <a:avLst/>
              </a:prstGeom>
              <a:noFill/>
            </p:spPr>
            <p:txBody>
              <a:bodyPr wrap="square" rtlCol="0">
                <a:spAutoFit/>
              </a:bodyPr>
              <a:lstStyle/>
              <a:p>
                <a:pPr fontAlgn="base"/>
                <a:r>
                  <a:rPr lang="en-GB" sz="1819" dirty="0">
                    <a:latin typeface="Arial" panose="020B0604020202020204" pitchFamily="34" charset="0"/>
                    <a:cs typeface="Arial" panose="020B0604020202020204" pitchFamily="34" charset="0"/>
                  </a:rPr>
                  <a:t>In figure 4, the autocorrelation lag 1 component, </a:t>
                </a:r>
                <a14:m>
                  <m:oMath xmlns:m="http://schemas.openxmlformats.org/officeDocument/2006/math">
                    <m:r>
                      <a:rPr lang="en-US" sz="1819" i="1">
                        <a:latin typeface="Cambria Math" panose="02040503050406030204" pitchFamily="18" charset="0"/>
                        <a:cs typeface="Arial" panose="020B0604020202020204" pitchFamily="34" charset="0"/>
                      </a:rPr>
                      <m:t>𝜙</m:t>
                    </m:r>
                    <m:r>
                      <a:rPr lang="en-US" sz="1819" i="1">
                        <a:latin typeface="Cambria Math" panose="02040503050406030204" pitchFamily="18" charset="0"/>
                        <a:cs typeface="Arial" panose="020B0604020202020204" pitchFamily="34" charset="0"/>
                      </a:rPr>
                      <m:t>(…)</m:t>
                    </m:r>
                  </m:oMath>
                </a14:m>
                <a:r>
                  <a:rPr lang="en-GB" sz="1819" dirty="0">
                    <a:latin typeface="Arial" panose="020B0604020202020204" pitchFamily="34" charset="0"/>
                    <a:cs typeface="Arial" panose="020B0604020202020204" pitchFamily="34" charset="0"/>
                  </a:rPr>
                  <a:t>, is added to the baseline + cycle component, </a:t>
                </a:r>
                <a14:m>
                  <m:oMath xmlns:m="http://schemas.openxmlformats.org/officeDocument/2006/math">
                    <m:r>
                      <a:rPr lang="en-US" sz="1819" i="1">
                        <a:latin typeface="Cambria Math" panose="02040503050406030204" pitchFamily="18" charset="0"/>
                        <a:cs typeface="Arial" panose="020B0604020202020204" pitchFamily="34" charset="0"/>
                      </a:rPr>
                      <m:t>𝜇</m:t>
                    </m:r>
                  </m:oMath>
                </a14:m>
                <a:r>
                  <a:rPr lang="en-GB" sz="1819" dirty="0">
                    <a:latin typeface="Arial" panose="020B0604020202020204" pitchFamily="34" charset="0"/>
                    <a:cs typeface="Arial" panose="020B0604020202020204" pitchFamily="34" charset="0"/>
                  </a:rPr>
                  <a:t>. This full model shows an annual negative spike around the new year period; the timing is constant with holiday discharges. A positive spike after the new year may reflect delayed care</a:t>
                </a:r>
                <a:r>
                  <a:rPr lang="en-GB" sz="1819">
                    <a:latin typeface="Arial" panose="020B0604020202020204" pitchFamily="34" charset="0"/>
                    <a:cs typeface="Arial" panose="020B0604020202020204" pitchFamily="34" charset="0"/>
                  </a:rPr>
                  <a:t> [3]. </a:t>
                </a:r>
                <a:r>
                  <a:rPr lang="en-GB" sz="1819" dirty="0">
                    <a:latin typeface="Arial" panose="020B0604020202020204" pitchFamily="34" charset="0"/>
                    <a:cs typeface="Arial" panose="020B0604020202020204" pitchFamily="34" charset="0"/>
                  </a:rPr>
                  <a:t>The 2024 negative spike in HSE Mid West is consistent with a “full reset” protocol in September 2024 </a:t>
                </a:r>
                <a:r>
                  <a:rPr lang="en-GB" sz="1819">
                    <a:latin typeface="Arial" panose="020B0604020202020204" pitchFamily="34" charset="0"/>
                    <a:cs typeface="Arial" panose="020B0604020202020204" pitchFamily="34" charset="0"/>
                  </a:rPr>
                  <a:t>[4].</a:t>
                </a:r>
                <a:r>
                  <a:rPr lang="en-GB" sz="1819" dirty="0">
                    <a:latin typeface="Arial" panose="020B0604020202020204" pitchFamily="34" charset="0"/>
                    <a:cs typeface="Arial" panose="020B0604020202020204" pitchFamily="34" charset="0"/>
                  </a:rPr>
                  <a:t> The autocorrelation component, </a:t>
                </a:r>
                <a14:m>
                  <m:oMath xmlns:m="http://schemas.openxmlformats.org/officeDocument/2006/math">
                    <m:r>
                      <a:rPr lang="en-US" sz="1819" i="1">
                        <a:latin typeface="Cambria Math" panose="02040503050406030204" pitchFamily="18" charset="0"/>
                        <a:cs typeface="Arial" panose="020B0604020202020204" pitchFamily="34" charset="0"/>
                      </a:rPr>
                      <m:t>𝜙</m:t>
                    </m:r>
                  </m:oMath>
                </a14:m>
                <a:r>
                  <a:rPr lang="en-GB" sz="1819" dirty="0">
                    <a:latin typeface="Arial" panose="020B0604020202020204" pitchFamily="34" charset="0"/>
                    <a:cs typeface="Arial" panose="020B0604020202020204" pitchFamily="34" charset="0"/>
                  </a:rPr>
                  <a:t>, is </a:t>
                </a:r>
                <a14:m>
                  <m:oMath xmlns:m="http://schemas.openxmlformats.org/officeDocument/2006/math">
                    <m:r>
                      <a:rPr lang="en-US" sz="1819" i="1">
                        <a:latin typeface="Cambria Math" panose="02040503050406030204" pitchFamily="18" charset="0"/>
                        <a:cs typeface="Arial" panose="020B0604020202020204" pitchFamily="34" charset="0"/>
                      </a:rPr>
                      <m:t>≈0.56</m:t>
                    </m:r>
                  </m:oMath>
                </a14:m>
                <a:r>
                  <a:rPr lang="en-GB" sz="1819" dirty="0">
                    <a:latin typeface="Arial" panose="020B0604020202020204" pitchFamily="34" charset="0"/>
                    <a:cs typeface="Arial" panose="020B0604020202020204" pitchFamily="34" charset="0"/>
                  </a:rPr>
                  <a:t> shows a moderate week to week persistence (table 2).</a:t>
                </a:r>
              </a:p>
            </p:txBody>
          </p:sp>
        </mc:Choice>
        <mc:Fallback xmlns="">
          <p:sp>
            <p:nvSpPr>
              <p:cNvPr id="20" name="TextBox 19">
                <a:extLst>
                  <a:ext uri="{FF2B5EF4-FFF2-40B4-BE49-F238E27FC236}">
                    <a16:creationId xmlns:a16="http://schemas.microsoft.com/office/drawing/2014/main" id="{102F15AC-5442-9DB9-9892-731071AD7A85}"/>
                  </a:ext>
                </a:extLst>
              </p:cNvPr>
              <p:cNvSpPr txBox="1">
                <a:spLocks noRot="1" noChangeAspect="1" noMove="1" noResize="1" noEditPoints="1" noAdjustHandles="1" noChangeArrowheads="1" noChangeShapeType="1" noTextEdit="1"/>
              </p:cNvSpPr>
              <p:nvPr/>
            </p:nvSpPr>
            <p:spPr>
              <a:xfrm>
                <a:off x="8193050" y="18328077"/>
                <a:ext cx="6569351" cy="2611869"/>
              </a:xfrm>
              <a:prstGeom prst="rect">
                <a:avLst/>
              </a:prstGeom>
              <a:blipFill>
                <a:blip r:embed="rId6"/>
                <a:stretch>
                  <a:fillRect l="-742" t="-1168" r="-1484" b="-3037"/>
                </a:stretch>
              </a:blipFill>
            </p:spPr>
            <p:txBody>
              <a:bodyPr/>
              <a:lstStyle/>
              <a:p>
                <a:r>
                  <a:rPr lang="en-IE">
                    <a:noFill/>
                  </a:rPr>
                  <a:t> </a:t>
                </a:r>
              </a:p>
            </p:txBody>
          </p:sp>
        </mc:Fallback>
      </mc:AlternateContent>
      <p:sp>
        <p:nvSpPr>
          <p:cNvPr id="23" name="TextBox 22">
            <a:extLst>
              <a:ext uri="{FF2B5EF4-FFF2-40B4-BE49-F238E27FC236}">
                <a16:creationId xmlns:a16="http://schemas.microsoft.com/office/drawing/2014/main" id="{5043E291-BE25-153C-E4BD-31E62600C2F1}"/>
              </a:ext>
            </a:extLst>
          </p:cNvPr>
          <p:cNvSpPr txBox="1"/>
          <p:nvPr/>
        </p:nvSpPr>
        <p:spPr>
          <a:xfrm>
            <a:off x="15657348" y="15353608"/>
            <a:ext cx="6548583" cy="1772024"/>
          </a:xfrm>
          <a:prstGeom prst="rect">
            <a:avLst/>
          </a:prstGeom>
          <a:noFill/>
        </p:spPr>
        <p:txBody>
          <a:bodyPr wrap="square" rtlCol="0">
            <a:spAutoFit/>
          </a:bodyPr>
          <a:lstStyle/>
          <a:p>
            <a:pPr marL="296997" indent="-296997" fontAlgn="base">
              <a:buFont typeface="Arial" panose="020B0604020202020204" pitchFamily="34" charset="0"/>
              <a:buChar char="•"/>
            </a:pPr>
            <a:r>
              <a:rPr lang="en-GB" sz="1819" b="1" dirty="0">
                <a:latin typeface="Arial" panose="020B0604020202020204" pitchFamily="34" charset="0"/>
                <a:cs typeface="Arial" panose="020B0604020202020204" pitchFamily="34" charset="0"/>
              </a:rPr>
              <a:t>HSE Mid West </a:t>
            </a:r>
            <a:r>
              <a:rPr lang="en-GB" sz="1819" dirty="0">
                <a:latin typeface="Arial" panose="020B0604020202020204" pitchFamily="34" charset="0"/>
                <a:cs typeface="Arial" panose="020B0604020202020204" pitchFamily="34" charset="0"/>
              </a:rPr>
              <a:t>has the </a:t>
            </a:r>
            <a:r>
              <a:rPr lang="en-GB" sz="1819" b="1" dirty="0">
                <a:latin typeface="Arial" panose="020B0604020202020204" pitchFamily="34" charset="0"/>
                <a:cs typeface="Arial" panose="020B0604020202020204" pitchFamily="34" charset="0"/>
              </a:rPr>
              <a:t>highest regional baseline.</a:t>
            </a:r>
            <a:r>
              <a:rPr lang="en-GB" sz="1819" dirty="0">
                <a:latin typeface="Arial" panose="020B0604020202020204" pitchFamily="34" charset="0"/>
                <a:cs typeface="Arial" panose="020B0604020202020204" pitchFamily="34" charset="0"/>
              </a:rPr>
              <a:t> Potential Dublin versus Non-Dublin baseline divide.</a:t>
            </a:r>
          </a:p>
          <a:p>
            <a:pPr marL="296997" indent="-296997" fontAlgn="base">
              <a:buFont typeface="Arial" panose="020B0604020202020204" pitchFamily="34" charset="0"/>
              <a:buChar char="•"/>
            </a:pPr>
            <a:r>
              <a:rPr lang="en-GB" sz="1819" b="1" dirty="0">
                <a:latin typeface="Arial" panose="020B0604020202020204" pitchFamily="34" charset="0"/>
                <a:cs typeface="Arial" panose="020B0604020202020204" pitchFamily="34" charset="0"/>
              </a:rPr>
              <a:t>Moderate</a:t>
            </a:r>
            <a:r>
              <a:rPr lang="en-GB" sz="1819" dirty="0">
                <a:latin typeface="Arial" panose="020B0604020202020204" pitchFamily="34" charset="0"/>
                <a:cs typeface="Arial" panose="020B0604020202020204" pitchFamily="34" charset="0"/>
              </a:rPr>
              <a:t> system wide </a:t>
            </a:r>
            <a:r>
              <a:rPr lang="en-GB" sz="1819" b="1" dirty="0">
                <a:latin typeface="Arial" panose="020B0604020202020204" pitchFamily="34" charset="0"/>
                <a:cs typeface="Arial" panose="020B0604020202020204" pitchFamily="34" charset="0"/>
              </a:rPr>
              <a:t>week to week persistence</a:t>
            </a:r>
            <a:r>
              <a:rPr lang="en-GB" sz="1819" dirty="0">
                <a:latin typeface="Arial" panose="020B0604020202020204" pitchFamily="34" charset="0"/>
                <a:cs typeface="Arial" panose="020B0604020202020204" pitchFamily="34" charset="0"/>
              </a:rPr>
              <a:t>.</a:t>
            </a:r>
          </a:p>
          <a:p>
            <a:pPr marL="296997" indent="-296997" fontAlgn="base">
              <a:buFont typeface="Arial" panose="020B0604020202020204" pitchFamily="34" charset="0"/>
              <a:buChar char="•"/>
            </a:pPr>
            <a:r>
              <a:rPr lang="en-GB" sz="1819" dirty="0">
                <a:latin typeface="Arial" panose="020B0604020202020204" pitchFamily="34" charset="0"/>
                <a:cs typeface="Arial" panose="020B0604020202020204" pitchFamily="34" charset="0"/>
              </a:rPr>
              <a:t>Some evidence for an annual cycle in Dublin regions.</a:t>
            </a:r>
          </a:p>
          <a:p>
            <a:pPr marL="296997" indent="-296997" fontAlgn="base">
              <a:buFont typeface="Arial" panose="020B0604020202020204" pitchFamily="34" charset="0"/>
              <a:buChar char="•"/>
            </a:pPr>
            <a:endParaRPr lang="en-GB" sz="1819" dirty="0">
              <a:latin typeface="Arial" panose="020B0604020202020204" pitchFamily="34" charset="0"/>
              <a:cs typeface="Arial" panose="020B0604020202020204" pitchFamily="34" charset="0"/>
            </a:endParaRPr>
          </a:p>
          <a:p>
            <a:pPr marL="296997" indent="-296997" fontAlgn="base">
              <a:buFont typeface="Arial" panose="020B0604020202020204" pitchFamily="34" charset="0"/>
              <a:buChar char="•"/>
            </a:pPr>
            <a:endParaRPr lang="en-GB" sz="1819"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5DE83D1E-285F-D822-D548-2F6CFC542B73}"/>
                  </a:ext>
                </a:extLst>
              </p:cNvPr>
              <p:cNvSpPr txBox="1"/>
              <p:nvPr/>
            </p:nvSpPr>
            <p:spPr>
              <a:xfrm>
                <a:off x="15333804" y="9455566"/>
                <a:ext cx="6198377" cy="605871"/>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Table 1: </a:t>
                </a:r>
                <a14:m>
                  <m:oMath xmlns:m="http://schemas.openxmlformats.org/officeDocument/2006/math">
                    <m:r>
                      <a:rPr lang="en-US" sz="1819" i="1">
                        <a:solidFill>
                          <a:schemeClr val="bg2">
                            <a:lumMod val="75000"/>
                          </a:schemeClr>
                        </a:solidFill>
                        <a:latin typeface="Cambria Math" panose="02040503050406030204" pitchFamily="18" charset="0"/>
                        <a:cs typeface="Arial" panose="020B0604020202020204" pitchFamily="34" charset="0"/>
                      </a:rPr>
                      <m:t>𝛼</m:t>
                    </m:r>
                  </m:oMath>
                </a14:m>
                <a:r>
                  <a:rPr lang="en-GB" sz="1559" i="1" dirty="0">
                    <a:solidFill>
                      <a:schemeClr val="bg2">
                        <a:lumMod val="75000"/>
                      </a:schemeClr>
                    </a:solidFill>
                    <a:latin typeface="Arial" panose="020B0604020202020204" pitchFamily="34" charset="0"/>
                    <a:cs typeface="Arial" panose="020B0604020202020204" pitchFamily="34" charset="0"/>
                  </a:rPr>
                  <a:t> (baseline/intercept) posterior mean rate per 10,000 with 95% CI for the 7 HSE regions. Note: CI’s don’t overlap.</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Choice>
        <mc:Fallback xmlns="">
          <p:sp>
            <p:nvSpPr>
              <p:cNvPr id="39" name="TextBox 38">
                <a:extLst>
                  <a:ext uri="{FF2B5EF4-FFF2-40B4-BE49-F238E27FC236}">
                    <a16:creationId xmlns:a16="http://schemas.microsoft.com/office/drawing/2014/main" id="{5DE83D1E-285F-D822-D548-2F6CFC542B73}"/>
                  </a:ext>
                </a:extLst>
              </p:cNvPr>
              <p:cNvSpPr txBox="1">
                <a:spLocks noRot="1" noChangeAspect="1" noMove="1" noResize="1" noEditPoints="1" noAdjustHandles="1" noChangeArrowheads="1" noChangeShapeType="1" noTextEdit="1"/>
              </p:cNvSpPr>
              <p:nvPr/>
            </p:nvSpPr>
            <p:spPr>
              <a:xfrm>
                <a:off x="15333804" y="9455566"/>
                <a:ext cx="6198377" cy="605871"/>
              </a:xfrm>
              <a:prstGeom prst="rect">
                <a:avLst/>
              </a:prstGeom>
              <a:blipFill>
                <a:blip r:embed="rId7"/>
                <a:stretch>
                  <a:fillRect l="-393" b="-11111"/>
                </a:stretch>
              </a:blipFill>
            </p:spPr>
            <p:txBody>
              <a:bodyPr/>
              <a:lstStyle/>
              <a:p>
                <a:r>
                  <a:rPr lang="en-IE">
                    <a:noFill/>
                  </a:rPr>
                  <a:t> </a:t>
                </a:r>
              </a:p>
            </p:txBody>
          </p:sp>
        </mc:Fallback>
      </mc:AlternateContent>
      <p:sp>
        <p:nvSpPr>
          <p:cNvPr id="40" name="Google Shape;60;p13">
            <a:extLst>
              <a:ext uri="{FF2B5EF4-FFF2-40B4-BE49-F238E27FC236}">
                <a16:creationId xmlns:a16="http://schemas.microsoft.com/office/drawing/2014/main" id="{9926771D-D9CA-03F9-BEC0-617CE347F91F}"/>
              </a:ext>
            </a:extLst>
          </p:cNvPr>
          <p:cNvSpPr/>
          <p:nvPr/>
        </p:nvSpPr>
        <p:spPr>
          <a:xfrm>
            <a:off x="22523462" y="16247552"/>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References</a:t>
            </a:r>
          </a:p>
        </p:txBody>
      </p:sp>
      <p:graphicFrame>
        <p:nvGraphicFramePr>
          <p:cNvPr id="18" name="Table 17">
            <a:extLst>
              <a:ext uri="{FF2B5EF4-FFF2-40B4-BE49-F238E27FC236}">
                <a16:creationId xmlns:a16="http://schemas.microsoft.com/office/drawing/2014/main" id="{9B704A7A-E7A4-942F-6643-8337F008560C}"/>
              </a:ext>
            </a:extLst>
          </p:cNvPr>
          <p:cNvGraphicFramePr>
            <a:graphicFrameLocks noGrp="1"/>
          </p:cNvGraphicFramePr>
          <p:nvPr/>
        </p:nvGraphicFramePr>
        <p:xfrm>
          <a:off x="16008901" y="7253417"/>
          <a:ext cx="5480400" cy="1958598"/>
        </p:xfrm>
        <a:graphic>
          <a:graphicData uri="http://schemas.openxmlformats.org/drawingml/2006/table">
            <a:tbl>
              <a:tblPr>
                <a:tableStyleId>{305F176E-F5B0-49BC-A6F0-7B532ED82268}</a:tableStyleId>
              </a:tblPr>
              <a:tblGrid>
                <a:gridCol w="733751">
                  <a:extLst>
                    <a:ext uri="{9D8B030D-6E8A-4147-A177-3AD203B41FA5}">
                      <a16:colId xmlns:a16="http://schemas.microsoft.com/office/drawing/2014/main" val="3099122297"/>
                    </a:ext>
                  </a:extLst>
                </a:gridCol>
                <a:gridCol w="785591">
                  <a:extLst>
                    <a:ext uri="{9D8B030D-6E8A-4147-A177-3AD203B41FA5}">
                      <a16:colId xmlns:a16="http://schemas.microsoft.com/office/drawing/2014/main" val="419928829"/>
                    </a:ext>
                  </a:extLst>
                </a:gridCol>
                <a:gridCol w="876528">
                  <a:extLst>
                    <a:ext uri="{9D8B030D-6E8A-4147-A177-3AD203B41FA5}">
                      <a16:colId xmlns:a16="http://schemas.microsoft.com/office/drawing/2014/main" val="677725414"/>
                    </a:ext>
                  </a:extLst>
                </a:gridCol>
                <a:gridCol w="3084530">
                  <a:extLst>
                    <a:ext uri="{9D8B030D-6E8A-4147-A177-3AD203B41FA5}">
                      <a16:colId xmlns:a16="http://schemas.microsoft.com/office/drawing/2014/main" val="1933723019"/>
                    </a:ext>
                  </a:extLst>
                </a:gridCol>
              </a:tblGrid>
              <a:tr h="324384">
                <a:tc>
                  <a:txBody>
                    <a:bodyPr/>
                    <a:lstStyle/>
                    <a:p>
                      <a:pPr lvl="1" algn="ctr" rtl="0" fontAlgn="t">
                        <a:buNone/>
                      </a:pPr>
                      <a:r>
                        <a:rPr lang="en-US" sz="1300" b="0" u="none" strike="noStrike">
                          <a:solidFill>
                            <a:srgbClr val="000000"/>
                          </a:solidFill>
                          <a:effectLst/>
                        </a:rPr>
                        <a:t>Mean</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2.5%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97.5%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Region</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3528179"/>
                  </a:ext>
                </a:extLst>
              </a:tr>
              <a:tr h="272245">
                <a:tc>
                  <a:txBody>
                    <a:bodyPr/>
                    <a:lstStyle/>
                    <a:p>
                      <a:pPr lvl="1" algn="ctr" rtl="0" fontAlgn="t">
                        <a:buNone/>
                      </a:pPr>
                      <a:r>
                        <a:rPr lang="en-US" sz="1300" b="0" u="none" strike="noStrike">
                          <a:solidFill>
                            <a:srgbClr val="000000"/>
                          </a:solidFill>
                          <a:effectLst/>
                        </a:rPr>
                        <a:t>7.96</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7.37</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8.55</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HSE Mid West</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6541862"/>
                  </a:ext>
                </a:extLst>
              </a:tr>
              <a:tr h="272245">
                <a:tc>
                  <a:txBody>
                    <a:bodyPr/>
                    <a:lstStyle/>
                    <a:p>
                      <a:pPr lvl="1" algn="ctr" rtl="0" fontAlgn="t">
                        <a:buNone/>
                      </a:pPr>
                      <a:r>
                        <a:rPr lang="en-US" sz="1300" b="0" u="none" strike="noStrike">
                          <a:solidFill>
                            <a:srgbClr val="000000"/>
                          </a:solidFill>
                          <a:effectLst/>
                        </a:rPr>
                        <a:t>6.18</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5.67</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6.7</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HSE West and North West</a:t>
                      </a:r>
                      <a:endParaRPr lang="en-US" sz="1300" dirty="0">
                        <a:effectLst/>
                      </a:endParaRPr>
                    </a:p>
                  </a:txBody>
                  <a:tcPr marL="16500" marR="16500" marT="57749" marB="16500"/>
                </a:tc>
                <a:extLst>
                  <a:ext uri="{0D108BD9-81ED-4DB2-BD59-A6C34878D82A}">
                    <a16:rowId xmlns:a16="http://schemas.microsoft.com/office/drawing/2014/main" val="973404960"/>
                  </a:ext>
                </a:extLst>
              </a:tr>
              <a:tr h="272245">
                <a:tc>
                  <a:txBody>
                    <a:bodyPr/>
                    <a:lstStyle/>
                    <a:p>
                      <a:pPr lvl="1" algn="ctr" rtl="0" fontAlgn="t">
                        <a:buNone/>
                      </a:pPr>
                      <a:r>
                        <a:rPr lang="en-US" sz="1300" b="0" u="none" strike="noStrike">
                          <a:solidFill>
                            <a:srgbClr val="000000"/>
                          </a:solidFill>
                          <a:effectLst/>
                        </a:rPr>
                        <a:t>4.27</a:t>
                      </a:r>
                      <a:endParaRPr lang="en-US" sz="1300" dirty="0">
                        <a:effectLst/>
                      </a:endParaRPr>
                    </a:p>
                  </a:txBody>
                  <a:tcPr marL="16500" marR="16500" marT="57749" marB="16500">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3.82</a:t>
                      </a:r>
                      <a:endParaRPr lang="en-US" sz="1300">
                        <a:effectLst/>
                      </a:endParaRPr>
                    </a:p>
                  </a:txBody>
                  <a:tcPr marL="16500" marR="16500" marT="57749" marB="16500">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4.7</a:t>
                      </a:r>
                      <a:endParaRPr lang="en-US" sz="1300">
                        <a:effectLst/>
                      </a:endParaRPr>
                    </a:p>
                  </a:txBody>
                  <a:tcPr marL="16500" marR="16500" marT="57749" marB="16500">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HSE South West</a:t>
                      </a:r>
                      <a:endParaRPr lang="en-US" sz="1300" dirty="0">
                        <a:effectLst/>
                      </a:endParaRPr>
                    </a:p>
                  </a:txBody>
                  <a:tcPr marL="16500" marR="16500" marT="57749" marB="16500">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2462958"/>
                  </a:ext>
                </a:extLst>
              </a:tr>
              <a:tr h="272245">
                <a:tc>
                  <a:txBody>
                    <a:bodyPr/>
                    <a:lstStyle/>
                    <a:p>
                      <a:pPr lvl="1" algn="ctr" rtl="0" fontAlgn="t">
                        <a:buNone/>
                      </a:pPr>
                      <a:r>
                        <a:rPr lang="en-US" sz="1300" b="0" u="none" strike="noStrike">
                          <a:solidFill>
                            <a:srgbClr val="000000"/>
                          </a:solidFill>
                          <a:effectLst/>
                        </a:rPr>
                        <a:t>3.82</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3.45</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4.18</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b="0" u="none" strike="noStrike">
                          <a:solidFill>
                            <a:srgbClr val="000000"/>
                          </a:solidFill>
                          <a:effectLst/>
                        </a:rPr>
                        <a:t>HSE Dublin and Midlands</a:t>
                      </a:r>
                      <a:endParaRPr lang="en-US" sz="1300">
                        <a:effectLst/>
                      </a:endParaRPr>
                    </a:p>
                  </a:txBody>
                  <a:tcPr marL="16500" marR="16500" marT="57749" marB="1650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759746173"/>
                  </a:ext>
                </a:extLst>
              </a:tr>
              <a:tr h="272245">
                <a:tc>
                  <a:txBody>
                    <a:bodyPr/>
                    <a:lstStyle/>
                    <a:p>
                      <a:pPr lvl="1" algn="ctr" rtl="0" fontAlgn="t">
                        <a:buNone/>
                      </a:pPr>
                      <a:r>
                        <a:rPr lang="en-US" sz="1300" b="0" u="none" strike="noStrike">
                          <a:solidFill>
                            <a:srgbClr val="000000"/>
                          </a:solidFill>
                          <a:effectLst/>
                        </a:rPr>
                        <a:t>2.87</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2.6</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3.13</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HSE Dublin and South East</a:t>
                      </a:r>
                      <a:endParaRPr lang="en-US" sz="1300" dirty="0">
                        <a:effectLst/>
                      </a:endParaRPr>
                    </a:p>
                  </a:txBody>
                  <a:tcPr marL="16500" marR="16500" marT="57749" marB="16500"/>
                </a:tc>
                <a:extLst>
                  <a:ext uri="{0D108BD9-81ED-4DB2-BD59-A6C34878D82A}">
                    <a16:rowId xmlns:a16="http://schemas.microsoft.com/office/drawing/2014/main" val="2869726007"/>
                  </a:ext>
                </a:extLst>
              </a:tr>
              <a:tr h="272245">
                <a:tc>
                  <a:txBody>
                    <a:bodyPr/>
                    <a:lstStyle/>
                    <a:p>
                      <a:pPr lvl="1" algn="ctr" rtl="0" fontAlgn="t">
                        <a:buNone/>
                      </a:pPr>
                      <a:r>
                        <a:rPr lang="en-US" sz="1300" b="0" u="none" strike="noStrike">
                          <a:solidFill>
                            <a:srgbClr val="000000"/>
                          </a:solidFill>
                          <a:effectLst/>
                        </a:rPr>
                        <a:t>2.18</a:t>
                      </a:r>
                      <a:endParaRPr lang="en-US" sz="1300">
                        <a:effectLst/>
                      </a:endParaRPr>
                    </a:p>
                  </a:txBody>
                  <a:tcPr marL="16500" marR="16500" marT="57749" marB="16500"/>
                </a:tc>
                <a:tc>
                  <a:txBody>
                    <a:bodyPr/>
                    <a:lstStyle/>
                    <a:p>
                      <a:pPr lvl="1" algn="ctr" rtl="0" fontAlgn="t">
                        <a:buNone/>
                      </a:pPr>
                      <a:r>
                        <a:rPr lang="en-US" sz="1300" b="0" u="none" strike="noStrike">
                          <a:solidFill>
                            <a:srgbClr val="000000"/>
                          </a:solidFill>
                          <a:effectLst/>
                        </a:rPr>
                        <a:t>1.94</a:t>
                      </a:r>
                      <a:endParaRPr lang="en-US" sz="1300" dirty="0">
                        <a:effectLst/>
                      </a:endParaRPr>
                    </a:p>
                  </a:txBody>
                  <a:tcPr marL="16500" marR="16500" marT="57749" marB="16500"/>
                </a:tc>
                <a:tc>
                  <a:txBody>
                    <a:bodyPr/>
                    <a:lstStyle/>
                    <a:p>
                      <a:pPr lvl="1" algn="ctr" rtl="0" fontAlgn="t">
                        <a:buNone/>
                      </a:pPr>
                      <a:r>
                        <a:rPr lang="en-US" sz="1300" b="0" u="none" strike="noStrike">
                          <a:solidFill>
                            <a:srgbClr val="000000"/>
                          </a:solidFill>
                          <a:effectLst/>
                        </a:rPr>
                        <a:t>2.41</a:t>
                      </a:r>
                      <a:endParaRPr lang="en-US" sz="1300" dirty="0">
                        <a:effectLst/>
                      </a:endParaRPr>
                    </a:p>
                  </a:txBody>
                  <a:tcPr marL="16500" marR="16500" marT="57749" marB="16500"/>
                </a:tc>
                <a:tc>
                  <a:txBody>
                    <a:bodyPr/>
                    <a:lstStyle/>
                    <a:p>
                      <a:pPr lvl="1" algn="ctr" rtl="0" fontAlgn="t">
                        <a:buNone/>
                      </a:pPr>
                      <a:r>
                        <a:rPr lang="en-US" sz="1300" b="0" u="none" strike="noStrike">
                          <a:solidFill>
                            <a:srgbClr val="000000"/>
                          </a:solidFill>
                          <a:effectLst/>
                        </a:rPr>
                        <a:t>HSE Dublin and North East</a:t>
                      </a:r>
                      <a:endParaRPr lang="en-US" sz="1300" dirty="0">
                        <a:effectLst/>
                      </a:endParaRPr>
                    </a:p>
                  </a:txBody>
                  <a:tcPr marL="16500" marR="16500" marT="57749" marB="16500"/>
                </a:tc>
                <a:extLst>
                  <a:ext uri="{0D108BD9-81ED-4DB2-BD59-A6C34878D82A}">
                    <a16:rowId xmlns:a16="http://schemas.microsoft.com/office/drawing/2014/main" val="496865087"/>
                  </a:ext>
                </a:extLst>
              </a:tr>
            </a:tbl>
          </a:graphicData>
        </a:graphic>
      </p:graphicFrame>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2D95E5E9-8264-7319-4230-FE68D9EF9FD9}"/>
                  </a:ext>
                </a:extLst>
              </p:cNvPr>
              <p:cNvSpPr txBox="1"/>
              <p:nvPr/>
            </p:nvSpPr>
            <p:spPr>
              <a:xfrm>
                <a:off x="15361015" y="6287529"/>
                <a:ext cx="6653881" cy="812145"/>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4: Posterior means for full weekly AR(1) annual cycle model; </a:t>
                </a:r>
                <a14:m>
                  <m:oMath xmlns:m="http://schemas.openxmlformats.org/officeDocument/2006/math">
                    <m:r>
                      <a:rPr lang="en-US" sz="1559" i="1">
                        <a:latin typeface="Cambria Math" panose="02040503050406030204" pitchFamily="18" charset="0"/>
                        <a:cs typeface="Arial" panose="020B0604020202020204" pitchFamily="34" charset="0"/>
                      </a:rPr>
                      <m:t>𝜇</m:t>
                    </m:r>
                  </m:oMath>
                </a14:m>
                <a:r>
                  <a:rPr lang="en-GB" sz="1559" i="1" dirty="0">
                    <a:solidFill>
                      <a:schemeClr val="bg2">
                        <a:lumMod val="75000"/>
                      </a:schemeClr>
                    </a:solidFill>
                    <a:latin typeface="Arial" panose="020B0604020202020204" pitchFamily="34" charset="0"/>
                    <a:cs typeface="Arial" panose="020B0604020202020204" pitchFamily="34" charset="0"/>
                  </a:rPr>
                  <a:t> (seasonal + baseline) component added to the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𝜙</m:t>
                    </m:r>
                  </m:oMath>
                </a14:m>
                <a:r>
                  <a:rPr lang="en-IE" sz="1559" i="1" dirty="0">
                    <a:solidFill>
                      <a:schemeClr val="bg2">
                        <a:lumMod val="75000"/>
                      </a:schemeClr>
                    </a:solidFill>
                    <a:latin typeface="Arial" panose="020B0604020202020204" pitchFamily="34" charset="0"/>
                    <a:cs typeface="Arial" panose="020B0604020202020204" pitchFamily="34" charset="0"/>
                  </a:rPr>
                  <a:t>, lag 1 autocorrelation component.</a:t>
                </a:r>
              </a:p>
            </p:txBody>
          </p:sp>
        </mc:Choice>
        <mc:Fallback xmlns="">
          <p:sp>
            <p:nvSpPr>
              <p:cNvPr id="24" name="TextBox 23">
                <a:extLst>
                  <a:ext uri="{FF2B5EF4-FFF2-40B4-BE49-F238E27FC236}">
                    <a16:creationId xmlns:a16="http://schemas.microsoft.com/office/drawing/2014/main" id="{2D95E5E9-8264-7319-4230-FE68D9EF9FD9}"/>
                  </a:ext>
                </a:extLst>
              </p:cNvPr>
              <p:cNvSpPr txBox="1">
                <a:spLocks noRot="1" noChangeAspect="1" noMove="1" noResize="1" noEditPoints="1" noAdjustHandles="1" noChangeArrowheads="1" noChangeShapeType="1" noTextEdit="1"/>
              </p:cNvSpPr>
              <p:nvPr/>
            </p:nvSpPr>
            <p:spPr>
              <a:xfrm>
                <a:off x="15361015" y="6287529"/>
                <a:ext cx="6653881" cy="812145"/>
              </a:xfrm>
              <a:prstGeom prst="rect">
                <a:avLst/>
              </a:prstGeom>
              <a:blipFill>
                <a:blip r:embed="rId8"/>
                <a:stretch>
                  <a:fillRect l="-458" t="-746" b="-7463"/>
                </a:stretch>
              </a:blipFill>
            </p:spPr>
            <p:txBody>
              <a:bodyPr/>
              <a:lstStyle/>
              <a:p>
                <a:r>
                  <a:rPr lang="en-I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B0831F2-1292-5C1B-0038-1D3CA518ADE5}"/>
                  </a:ext>
                </a:extLst>
              </p:cNvPr>
              <p:cNvSpPr txBox="1"/>
              <p:nvPr/>
            </p:nvSpPr>
            <p:spPr>
              <a:xfrm>
                <a:off x="8193050" y="17747005"/>
                <a:ext cx="6599984"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3: Posterior means for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𝜇</m:t>
                    </m:r>
                  </m:oMath>
                </a14:m>
                <a:r>
                  <a:rPr lang="en-GB" sz="1559" i="1" dirty="0">
                    <a:solidFill>
                      <a:schemeClr val="bg2">
                        <a:lumMod val="75000"/>
                      </a:schemeClr>
                    </a:solidFill>
                    <a:latin typeface="Arial" panose="020B0604020202020204" pitchFamily="34" charset="0"/>
                    <a:cs typeface="Arial" panose="020B0604020202020204" pitchFamily="34" charset="0"/>
                  </a:rPr>
                  <a:t> component of weekly AR(1) annual cycle model with shaded 95% credible intervals.</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Choice>
        <mc:Fallback xmlns="">
          <p:sp>
            <p:nvSpPr>
              <p:cNvPr id="26" name="TextBox 25">
                <a:extLst>
                  <a:ext uri="{FF2B5EF4-FFF2-40B4-BE49-F238E27FC236}">
                    <a16:creationId xmlns:a16="http://schemas.microsoft.com/office/drawing/2014/main" id="{8B0831F2-1292-5C1B-0038-1D3CA518ADE5}"/>
                  </a:ext>
                </a:extLst>
              </p:cNvPr>
              <p:cNvSpPr txBox="1">
                <a:spLocks noRot="1" noChangeAspect="1" noMove="1" noResize="1" noEditPoints="1" noAdjustHandles="1" noChangeArrowheads="1" noChangeShapeType="1" noTextEdit="1"/>
              </p:cNvSpPr>
              <p:nvPr/>
            </p:nvSpPr>
            <p:spPr>
              <a:xfrm>
                <a:off x="8193050" y="17747005"/>
                <a:ext cx="6599984" cy="572208"/>
              </a:xfrm>
              <a:prstGeom prst="rect">
                <a:avLst/>
              </a:prstGeom>
              <a:blipFill>
                <a:blip r:embed="rId9"/>
                <a:stretch>
                  <a:fillRect l="-369" t="-1064" r="-554" b="-11702"/>
                </a:stretch>
              </a:blipFill>
            </p:spPr>
            <p:txBody>
              <a:bodyPr/>
              <a:lstStyle/>
              <a:p>
                <a:r>
                  <a:rPr lang="en-IE">
                    <a:noFill/>
                  </a:rPr>
                  <a:t> </a:t>
                </a:r>
              </a:p>
            </p:txBody>
          </p:sp>
        </mc:Fallback>
      </mc:AlternateContent>
      <p:sp>
        <p:nvSpPr>
          <p:cNvPr id="14" name="TextBox 13">
            <a:extLst>
              <a:ext uri="{FF2B5EF4-FFF2-40B4-BE49-F238E27FC236}">
                <a16:creationId xmlns:a16="http://schemas.microsoft.com/office/drawing/2014/main" id="{918C0D40-1BD6-9355-6AFB-30561A5D9A13}"/>
              </a:ext>
            </a:extLst>
          </p:cNvPr>
          <p:cNvSpPr txBox="1"/>
          <p:nvPr/>
        </p:nvSpPr>
        <p:spPr>
          <a:xfrm>
            <a:off x="8249824" y="4145922"/>
            <a:ext cx="6702985" cy="1772024"/>
          </a:xfrm>
          <a:prstGeom prst="rect">
            <a:avLst/>
          </a:prstGeom>
          <a:noFill/>
        </p:spPr>
        <p:txBody>
          <a:bodyPr wrap="square" rtlCol="0">
            <a:spAutoFit/>
          </a:bodyPr>
          <a:lstStyle/>
          <a:p>
            <a:r>
              <a:rPr lang="en-IE" sz="1819" dirty="0">
                <a:latin typeface="Arial" panose="020B0604020202020204" pitchFamily="34" charset="0"/>
                <a:ea typeface="Calibri" panose="020F0502020204030204" pitchFamily="34" charset="0"/>
                <a:cs typeface="Arial" panose="020B0604020202020204" pitchFamily="34" charset="0"/>
              </a:rPr>
              <a:t>Initially we wanted to look at cycles in the rate. In figure 1, the daily PACF shows high, significant correlation through the first 7 lags, indicating a </a:t>
            </a:r>
            <a:r>
              <a:rPr lang="en-IE" sz="1819" b="1" dirty="0">
                <a:latin typeface="Arial" panose="020B0604020202020204" pitchFamily="34" charset="0"/>
                <a:ea typeface="Calibri" panose="020F0502020204030204" pitchFamily="34" charset="0"/>
                <a:cs typeface="Arial" panose="020B0604020202020204" pitchFamily="34" charset="0"/>
              </a:rPr>
              <a:t>strong weekly cycle</a:t>
            </a:r>
            <a:r>
              <a:rPr lang="en-IE" sz="1819" dirty="0">
                <a:latin typeface="Arial" panose="020B0604020202020204" pitchFamily="34" charset="0"/>
                <a:ea typeface="Calibri" panose="020F0502020204030204" pitchFamily="34" charset="0"/>
                <a:cs typeface="Arial" panose="020B0604020202020204" pitchFamily="34" charset="0"/>
              </a:rPr>
              <a:t>. To focus on long term trends, weekly trolley rates were used going forward. The weekly PACF shows a significant correlation at lag 1 (figure 2), motivating an AR(1) model.</a:t>
            </a:r>
            <a:endParaRPr lang="en-IE" sz="611" dirty="0">
              <a:latin typeface="Arial" panose="020B0604020202020204" pitchFamily="34" charset="0"/>
              <a:cs typeface="Arial" panose="020B0604020202020204" pitchFamily="34" charset="0"/>
            </a:endParaRPr>
          </a:p>
        </p:txBody>
      </p:sp>
      <p:pic>
        <p:nvPicPr>
          <p:cNvPr id="32" name="Picture 31">
            <a:extLst>
              <a:ext uri="{FF2B5EF4-FFF2-40B4-BE49-F238E27FC236}">
                <a16:creationId xmlns:a16="http://schemas.microsoft.com/office/drawing/2014/main" id="{AC7E7F94-3F52-4EF0-0154-51926982602C}"/>
              </a:ext>
            </a:extLst>
          </p:cNvPr>
          <p:cNvPicPr>
            <a:picLocks noChangeAspect="1"/>
          </p:cNvPicPr>
          <p:nvPr/>
        </p:nvPicPr>
        <p:blipFill>
          <a:blip r:embed="rId10"/>
          <a:srcRect l="50000" t="2175" r="-1" b="82423"/>
          <a:stretch>
            <a:fillRect/>
          </a:stretch>
        </p:blipFill>
        <p:spPr>
          <a:xfrm>
            <a:off x="8239617" y="10679741"/>
            <a:ext cx="6782695" cy="1961422"/>
          </a:xfrm>
          <a:prstGeom prst="rect">
            <a:avLst/>
          </a:prstGeom>
        </p:spPr>
      </p:pic>
      <p:sp>
        <p:nvSpPr>
          <p:cNvPr id="46" name="TextBox 45">
            <a:extLst>
              <a:ext uri="{FF2B5EF4-FFF2-40B4-BE49-F238E27FC236}">
                <a16:creationId xmlns:a16="http://schemas.microsoft.com/office/drawing/2014/main" id="{063C95C8-B23E-8E69-5CE8-FE3A17FF9C10}"/>
              </a:ext>
            </a:extLst>
          </p:cNvPr>
          <p:cNvSpPr txBox="1"/>
          <p:nvPr/>
        </p:nvSpPr>
        <p:spPr>
          <a:xfrm>
            <a:off x="22499268" y="17174527"/>
            <a:ext cx="6705229" cy="4010200"/>
          </a:xfrm>
          <a:prstGeom prst="rect">
            <a:avLst/>
          </a:prstGeom>
          <a:noFill/>
        </p:spPr>
        <p:txBody>
          <a:bodyPr wrap="square" rtlCol="0">
            <a:spAutoFit/>
          </a:bodyPr>
          <a:lstStyle/>
          <a:p>
            <a:r>
              <a:rPr lang="en-IE" sz="1299" dirty="0"/>
              <a:t>[</a:t>
            </a:r>
            <a:r>
              <a:rPr lang="en-IE" sz="1169" dirty="0"/>
              <a:t>1] </a:t>
            </a:r>
            <a:r>
              <a:rPr lang="en-GB" sz="1169" dirty="0"/>
              <a:t>Health Service Executive (2026) </a:t>
            </a:r>
            <a:r>
              <a:rPr lang="en-GB" sz="1169" i="1" dirty="0"/>
              <a:t>Daily trolley and escalation data</a:t>
            </a:r>
            <a:r>
              <a:rPr lang="en-GB" sz="1169" dirty="0"/>
              <a:t>. Dublin: Health Service Executive. Available at: https://www.hse.ie/eng/services/news/media/pressrel/trolley-data/ (Accessed: 04 January 2026).</a:t>
            </a:r>
            <a:endParaRPr lang="en-IE" sz="1169" dirty="0"/>
          </a:p>
          <a:p>
            <a:endParaRPr lang="en-GB" sz="1169" dirty="0">
              <a:latin typeface="Arial" panose="020B0604020202020204" pitchFamily="34" charset="0"/>
              <a:cs typeface="Arial" panose="020B0604020202020204" pitchFamily="34" charset="0"/>
            </a:endParaRPr>
          </a:p>
          <a:p>
            <a:r>
              <a:rPr lang="en-GB" sz="1169" dirty="0">
                <a:latin typeface="Arial" panose="020B0604020202020204" pitchFamily="34" charset="0"/>
                <a:cs typeface="Arial" panose="020B0604020202020204" pitchFamily="34" charset="0"/>
              </a:rPr>
              <a:t>[2] “Urgent and emergency care report (</a:t>
            </a:r>
            <a:r>
              <a:rPr lang="en-GB" sz="1169" dirty="0" err="1">
                <a:latin typeface="Arial" panose="020B0604020202020204" pitchFamily="34" charset="0"/>
                <a:cs typeface="Arial" panose="020B0604020202020204" pitchFamily="34" charset="0"/>
              </a:rPr>
              <a:t>TrolleyGAR</a:t>
            </a:r>
            <a:r>
              <a:rPr lang="en-GB" sz="1169" dirty="0">
                <a:latin typeface="Arial" panose="020B0604020202020204" pitchFamily="34" charset="0"/>
                <a:cs typeface="Arial" panose="020B0604020202020204" pitchFamily="34" charset="0"/>
              </a:rPr>
              <a:t>),” HSE.ie. https://www2.hse.ie/services/urgent-emergency-care-report/  ‌</a:t>
            </a:r>
          </a:p>
          <a:p>
            <a:endParaRPr lang="en-GB" sz="1169" dirty="0">
              <a:latin typeface="Arial" panose="020B0604020202020204" pitchFamily="34" charset="0"/>
              <a:cs typeface="Arial" panose="020B0604020202020204" pitchFamily="34" charset="0"/>
            </a:endParaRPr>
          </a:p>
          <a:p>
            <a:r>
              <a:rPr lang="en-GB" sz="1169" dirty="0">
                <a:latin typeface="Arial" panose="020B0604020202020204" pitchFamily="34" charset="0"/>
                <a:cs typeface="Arial" panose="020B0604020202020204" pitchFamily="34" charset="0"/>
              </a:rPr>
              <a:t>[3] </a:t>
            </a:r>
            <a:r>
              <a:rPr lang="en-GB" sz="1169" dirty="0"/>
              <a:t>Health Service Executive (HSE) (2026) </a:t>
            </a:r>
            <a:r>
              <a:rPr lang="en-GB" sz="1169" i="1" dirty="0"/>
              <a:t>HSE reports 448 people currently hospitalised with respiratory illness</a:t>
            </a:r>
            <a:r>
              <a:rPr lang="en-GB" sz="1169" dirty="0"/>
              <a:t>. 19 January. Available at: </a:t>
            </a:r>
            <a:r>
              <a:rPr lang="en-GB" sz="1169" dirty="0">
                <a:hlinkClick r:id="rId11"/>
              </a:rPr>
              <a:t>https://about.hse.ie/news/hse-reports-448-people-currently-hospitalised-with-respiratory-illness/</a:t>
            </a:r>
            <a:r>
              <a:rPr lang="en-GB" sz="1169" dirty="0"/>
              <a:t> (Accessed: 28 January 2026).</a:t>
            </a:r>
            <a:endParaRPr lang="en-GB" sz="1169" dirty="0">
              <a:latin typeface="Arial" panose="020B0604020202020204" pitchFamily="34" charset="0"/>
              <a:cs typeface="Arial" panose="020B0604020202020204" pitchFamily="34" charset="0"/>
            </a:endParaRPr>
          </a:p>
          <a:p>
            <a:endParaRPr lang="en-GB" sz="1169" dirty="0">
              <a:latin typeface="Arial" panose="020B0604020202020204" pitchFamily="34" charset="0"/>
              <a:cs typeface="Arial" panose="020B0604020202020204" pitchFamily="34" charset="0"/>
            </a:endParaRPr>
          </a:p>
          <a:p>
            <a:r>
              <a:rPr lang="en-GB" sz="1169" dirty="0">
                <a:latin typeface="Arial" panose="020B0604020202020204" pitchFamily="34" charset="0"/>
                <a:cs typeface="Arial" panose="020B0604020202020204" pitchFamily="34" charset="0"/>
              </a:rPr>
              <a:t>[4] </a:t>
            </a:r>
            <a:r>
              <a:rPr lang="en-GB" sz="1169" dirty="0"/>
              <a:t>Health Information and Quality Authority (HIQA) (2025) </a:t>
            </a:r>
            <a:r>
              <a:rPr lang="en-GB" sz="1169" i="1" dirty="0"/>
              <a:t>Work stream 1 – Policy Review: A summary of the key health system and policy recommendations and decisions that have impacted urgent and emergency healthcare services in the HSE Mid West health region (2000–2024)</a:t>
            </a:r>
            <a:r>
              <a:rPr lang="en-GB" sz="1169" dirty="0"/>
              <a:t>. 30 September. Limerick: HIQA Page 54. Available at: </a:t>
            </a:r>
            <a:r>
              <a:rPr lang="en-GB" sz="1169" dirty="0">
                <a:hlinkClick r:id="rId12"/>
              </a:rPr>
              <a:t>https://www.hiqa.ie/sites/default/files/2025-09/MWR/WS1-Policy_Review.pdf</a:t>
            </a:r>
            <a:r>
              <a:rPr lang="en-GB" sz="1169" dirty="0"/>
              <a:t> (Accessed: 28/01/2026).</a:t>
            </a:r>
          </a:p>
          <a:p>
            <a:endParaRPr lang="en-GB" sz="1169" dirty="0">
              <a:latin typeface="Arial" panose="020B0604020202020204" pitchFamily="34" charset="0"/>
              <a:cs typeface="Arial" panose="020B0604020202020204" pitchFamily="34" charset="0"/>
            </a:endParaRPr>
          </a:p>
          <a:p>
            <a:r>
              <a:rPr lang="en-US" sz="1200" dirty="0"/>
              <a:t>[5] C. MacDermott, C. J. Scarrott, and J. Ferguson, “Bayes-</a:t>
            </a:r>
            <a:r>
              <a:rPr lang="en-US" sz="1200" dirty="0" err="1"/>
              <a:t>ically</a:t>
            </a:r>
            <a:r>
              <a:rPr lang="en-US" sz="1200" dirty="0"/>
              <a:t> fair: A Bayesian Ranking of the Olympic Medal Table,” Oct. 16, 2025, </a:t>
            </a:r>
            <a:r>
              <a:rPr lang="en-US" sz="1200" i="1" dirty="0" err="1"/>
              <a:t>arXiv</a:t>
            </a:r>
            <a:r>
              <a:rPr lang="en-US" sz="1200" dirty="0"/>
              <a:t>: arXiv:2510.14723. </a:t>
            </a:r>
            <a:r>
              <a:rPr lang="en-US" sz="1200" dirty="0" err="1"/>
              <a:t>doi</a:t>
            </a:r>
            <a:r>
              <a:rPr lang="en-US" sz="1200" dirty="0"/>
              <a:t>: </a:t>
            </a:r>
            <a:r>
              <a:rPr lang="en-US" sz="1200" dirty="0">
                <a:hlinkClick r:id="rId13"/>
              </a:rPr>
              <a:t>10.48550/arXiv.2510.14723</a:t>
            </a:r>
            <a:r>
              <a:rPr lang="en-US" sz="1200" dirty="0"/>
              <a:t>.</a:t>
            </a:r>
          </a:p>
          <a:p>
            <a:endParaRPr lang="en-GB" sz="1169" dirty="0">
              <a:latin typeface="Arial" panose="020B0604020202020204" pitchFamily="34" charset="0"/>
              <a:cs typeface="Arial" panose="020B0604020202020204" pitchFamily="34" charset="0"/>
            </a:endParaRPr>
          </a:p>
          <a:p>
            <a:endParaRPr lang="en-GB" sz="1169" dirty="0">
              <a:latin typeface="Arial" panose="020B0604020202020204" pitchFamily="34" charset="0"/>
              <a:cs typeface="Arial" panose="020B0604020202020204" pitchFamily="34" charset="0"/>
            </a:endParaRPr>
          </a:p>
          <a:p>
            <a:endParaRPr lang="en-IE" sz="715" dirty="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18C6947E-9440-0E62-D897-B7754A035499}"/>
              </a:ext>
            </a:extLst>
          </p:cNvPr>
          <p:cNvSpPr txBox="1"/>
          <p:nvPr/>
        </p:nvSpPr>
        <p:spPr>
          <a:xfrm>
            <a:off x="22435612" y="15160508"/>
            <a:ext cx="6874883" cy="932178"/>
          </a:xfrm>
          <a:prstGeom prst="rect">
            <a:avLst/>
          </a:prstGeom>
          <a:noFill/>
        </p:spPr>
        <p:txBody>
          <a:bodyPr wrap="square" rtlCol="0">
            <a:spAutoFit/>
          </a:bodyPr>
          <a:lstStyle/>
          <a:p>
            <a:r>
              <a:rPr lang="en-GB" sz="1819" dirty="0">
                <a:latin typeface="Arial" panose="020B0604020202020204" pitchFamily="34" charset="0"/>
                <a:cs typeface="Arial" panose="020B0604020202020204" pitchFamily="34" charset="0"/>
              </a:rPr>
              <a:t>The code and datasets for this project can be viewed at our GitHub repository here: </a:t>
            </a:r>
            <a:r>
              <a:rPr lang="en-GB" sz="1819" dirty="0">
                <a:latin typeface="Arial" panose="020B0604020202020204" pitchFamily="34" charset="0"/>
                <a:cs typeface="Arial" panose="020B0604020202020204" pitchFamily="34" charset="0"/>
                <a:hlinkClick r:id="rId14"/>
              </a:rPr>
              <a:t>http://github.com/hotsoupisgood/scraping-hse-trolly-data</a:t>
            </a:r>
            <a:endParaRPr lang="en-IE" sz="611" dirty="0">
              <a:latin typeface="Arial" panose="020B0604020202020204" pitchFamily="34" charset="0"/>
              <a:cs typeface="Arial" panose="020B0604020202020204" pitchFamily="34" charset="0"/>
            </a:endParaRPr>
          </a:p>
        </p:txBody>
      </p:sp>
      <p:pic>
        <p:nvPicPr>
          <p:cNvPr id="49" name="Picture 48">
            <a:extLst>
              <a:ext uri="{FF2B5EF4-FFF2-40B4-BE49-F238E27FC236}">
                <a16:creationId xmlns:a16="http://schemas.microsoft.com/office/drawing/2014/main" id="{D54280AA-ECA0-19B9-6CB9-C1F81DF08F6C}"/>
              </a:ext>
            </a:extLst>
          </p:cNvPr>
          <p:cNvPicPr>
            <a:picLocks noChangeAspect="1"/>
          </p:cNvPicPr>
          <p:nvPr/>
        </p:nvPicPr>
        <p:blipFill>
          <a:blip r:embed="rId15"/>
          <a:srcRect l="50000" t="1815" b="82490"/>
          <a:stretch>
            <a:fillRect/>
          </a:stretch>
        </p:blipFill>
        <p:spPr>
          <a:xfrm>
            <a:off x="8264271" y="6013925"/>
            <a:ext cx="6766240" cy="1994063"/>
          </a:xfrm>
          <a:prstGeom prst="rect">
            <a:avLst/>
          </a:prstGeom>
        </p:spPr>
      </p:pic>
      <p:pic>
        <p:nvPicPr>
          <p:cNvPr id="1026" name="Picture 2" descr="Trolley Count: 482 Patients Waiting For A Bed In Irish Hospitals">
            <a:extLst>
              <a:ext uri="{FF2B5EF4-FFF2-40B4-BE49-F238E27FC236}">
                <a16:creationId xmlns:a16="http://schemas.microsoft.com/office/drawing/2014/main" id="{D7A4A515-9EA0-25F7-92C2-A006B1A6808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570473" y="291175"/>
            <a:ext cx="4693012" cy="2681721"/>
          </a:xfrm>
          <a:prstGeom prst="rect">
            <a:avLst/>
          </a:prstGeom>
          <a:noFill/>
          <a:extLst>
            <a:ext uri="{909E8E84-426E-40DD-AFC4-6F175D3DCCD1}">
              <a14:hiddenFill xmlns:a14="http://schemas.microsoft.com/office/drawing/2010/main">
                <a:solidFill>
                  <a:srgbClr val="FFFFFF"/>
                </a:solidFill>
              </a14:hiddenFill>
            </a:ext>
          </a:extLst>
        </p:spPr>
      </p:pic>
      <p:sp>
        <p:nvSpPr>
          <p:cNvPr id="53" name="TextBox 52">
            <a:extLst>
              <a:ext uri="{FF2B5EF4-FFF2-40B4-BE49-F238E27FC236}">
                <a16:creationId xmlns:a16="http://schemas.microsoft.com/office/drawing/2014/main" id="{9294EE9B-5796-0FC8-E9D9-EA7AE474E64C}"/>
              </a:ext>
            </a:extLst>
          </p:cNvPr>
          <p:cNvSpPr txBox="1"/>
          <p:nvPr/>
        </p:nvSpPr>
        <p:spPr>
          <a:xfrm>
            <a:off x="22539581" y="13362825"/>
            <a:ext cx="6488886"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Figure 4: The regional map of normalized mean trolley rates per 10,000 people. The regions are defined by the HSE.. </a:t>
            </a:r>
            <a:endParaRPr lang="en-IE" sz="1559" i="1" dirty="0">
              <a:solidFill>
                <a:schemeClr val="bg2">
                  <a:lumMod val="75000"/>
                </a:schemeClr>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113EDEB8-52F9-164F-96E6-97AABD154B9D}"/>
              </a:ext>
            </a:extLst>
          </p:cNvPr>
          <p:cNvPicPr>
            <a:picLocks noChangeAspect="1"/>
          </p:cNvPicPr>
          <p:nvPr/>
        </p:nvPicPr>
        <p:blipFill>
          <a:blip r:embed="rId17"/>
          <a:stretch>
            <a:fillRect/>
          </a:stretch>
        </p:blipFill>
        <p:spPr>
          <a:xfrm>
            <a:off x="8113470" y="15570104"/>
            <a:ext cx="6679564" cy="2135643"/>
          </a:xfrm>
          <a:prstGeom prst="rect">
            <a:avLst/>
          </a:prstGeom>
        </p:spPr>
      </p:pic>
      <p:pic>
        <p:nvPicPr>
          <p:cNvPr id="8" name="Picture 7">
            <a:extLst>
              <a:ext uri="{FF2B5EF4-FFF2-40B4-BE49-F238E27FC236}">
                <a16:creationId xmlns:a16="http://schemas.microsoft.com/office/drawing/2014/main" id="{34C6E27D-7BE4-8C4E-FAF4-89EA580480C3}"/>
              </a:ext>
            </a:extLst>
          </p:cNvPr>
          <p:cNvPicPr>
            <a:picLocks noChangeAspect="1"/>
          </p:cNvPicPr>
          <p:nvPr/>
        </p:nvPicPr>
        <p:blipFill>
          <a:blip r:embed="rId10"/>
          <a:srcRect l="2173" t="2175" r="50182" b="82423"/>
          <a:stretch>
            <a:fillRect/>
          </a:stretch>
        </p:blipFill>
        <p:spPr>
          <a:xfrm>
            <a:off x="8518680" y="8722139"/>
            <a:ext cx="6395140" cy="1940820"/>
          </a:xfrm>
          <a:prstGeom prst="rect">
            <a:avLst/>
          </a:prstGeom>
        </p:spPr>
      </p:pic>
      <p:pic>
        <p:nvPicPr>
          <p:cNvPr id="11" name="Picture 10">
            <a:extLst>
              <a:ext uri="{FF2B5EF4-FFF2-40B4-BE49-F238E27FC236}">
                <a16:creationId xmlns:a16="http://schemas.microsoft.com/office/drawing/2014/main" id="{ED7B963B-167C-FCEC-8FB4-EE071507451C}"/>
              </a:ext>
            </a:extLst>
          </p:cNvPr>
          <p:cNvPicPr>
            <a:picLocks noChangeAspect="1"/>
          </p:cNvPicPr>
          <p:nvPr/>
        </p:nvPicPr>
        <p:blipFill>
          <a:blip r:embed="rId10"/>
          <a:srcRect l="50000" t="2175" r="48017" b="82423"/>
          <a:stretch>
            <a:fillRect/>
          </a:stretch>
        </p:blipFill>
        <p:spPr>
          <a:xfrm>
            <a:off x="8228212" y="9712639"/>
            <a:ext cx="309049" cy="2253525"/>
          </a:xfrm>
          <a:prstGeom prst="rect">
            <a:avLst/>
          </a:prstGeom>
        </p:spPr>
      </p:pic>
      <p:graphicFrame>
        <p:nvGraphicFramePr>
          <p:cNvPr id="31" name="Table 30">
            <a:extLst>
              <a:ext uri="{FF2B5EF4-FFF2-40B4-BE49-F238E27FC236}">
                <a16:creationId xmlns:a16="http://schemas.microsoft.com/office/drawing/2014/main" id="{63A0C481-A518-2713-D10C-49ED1F05157A}"/>
              </a:ext>
            </a:extLst>
          </p:cNvPr>
          <p:cNvGraphicFramePr>
            <a:graphicFrameLocks noGrp="1"/>
          </p:cNvGraphicFramePr>
          <p:nvPr/>
        </p:nvGraphicFramePr>
        <p:xfrm>
          <a:off x="16942381" y="10231618"/>
          <a:ext cx="3257860" cy="544738"/>
        </p:xfrm>
        <a:graphic>
          <a:graphicData uri="http://schemas.openxmlformats.org/drawingml/2006/table">
            <a:tbl>
              <a:tblPr>
                <a:tableStyleId>{305F176E-F5B0-49BC-A6F0-7B532ED82268}</a:tableStyleId>
              </a:tblPr>
              <a:tblGrid>
                <a:gridCol w="1096247">
                  <a:extLst>
                    <a:ext uri="{9D8B030D-6E8A-4147-A177-3AD203B41FA5}">
                      <a16:colId xmlns:a16="http://schemas.microsoft.com/office/drawing/2014/main" val="2135798752"/>
                    </a:ext>
                  </a:extLst>
                </a:gridCol>
                <a:gridCol w="972726">
                  <a:extLst>
                    <a:ext uri="{9D8B030D-6E8A-4147-A177-3AD203B41FA5}">
                      <a16:colId xmlns:a16="http://schemas.microsoft.com/office/drawing/2014/main" val="809271335"/>
                    </a:ext>
                  </a:extLst>
                </a:gridCol>
                <a:gridCol w="1188887">
                  <a:extLst>
                    <a:ext uri="{9D8B030D-6E8A-4147-A177-3AD203B41FA5}">
                      <a16:colId xmlns:a16="http://schemas.microsoft.com/office/drawing/2014/main" val="4163197198"/>
                    </a:ext>
                  </a:extLst>
                </a:gridCol>
              </a:tblGrid>
              <a:tr h="272245">
                <a:tc>
                  <a:txBody>
                    <a:bodyPr/>
                    <a:lstStyle/>
                    <a:p>
                      <a:pPr lvl="1" algn="ctr" rtl="0" fontAlgn="t">
                        <a:buNone/>
                      </a:pPr>
                      <a:r>
                        <a:rPr lang="en-US" sz="1300" b="0" u="none" strike="noStrike">
                          <a:solidFill>
                            <a:srgbClr val="000000"/>
                          </a:solidFill>
                          <a:effectLst/>
                        </a:rPr>
                        <a:t>Mean</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2.5%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1" algn="ctr" rtl="0" fontAlgn="t">
                        <a:buNone/>
                      </a:pPr>
                      <a:r>
                        <a:rPr lang="en-US" sz="1300" b="0" u="none" strike="noStrike">
                          <a:solidFill>
                            <a:srgbClr val="000000"/>
                          </a:solidFill>
                          <a:effectLst/>
                        </a:rPr>
                        <a:t>97.5%</a:t>
                      </a:r>
                      <a:endParaRPr lang="en-US" sz="1300" b="0" dirty="0">
                        <a:effectLst/>
                      </a:endParaRPr>
                    </a:p>
                  </a:txBody>
                  <a:tcPr marL="16500" marR="16500" marT="57749" marB="16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21203771"/>
                  </a:ext>
                </a:extLst>
              </a:tr>
              <a:tr h="272245">
                <a:tc>
                  <a:txBody>
                    <a:bodyPr/>
                    <a:lstStyle/>
                    <a:p>
                      <a:pPr lvl="1" algn="ctr" rtl="0" fontAlgn="t">
                        <a:buNone/>
                      </a:pPr>
                      <a:r>
                        <a:rPr lang="en-US" sz="1300" b="0" u="none" strike="noStrike" dirty="0">
                          <a:solidFill>
                            <a:srgbClr val="000000"/>
                          </a:solidFill>
                          <a:effectLst/>
                        </a:rPr>
                        <a:t>0.56</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a:effectLst/>
                        </a:rPr>
                        <a:t>0.50</a:t>
                      </a:r>
                      <a:endParaRPr lang="en-US" sz="1300" dirty="0">
                        <a:effectLst/>
                      </a:endParaRPr>
                    </a:p>
                  </a:txBody>
                  <a:tcPr marL="16500" marR="16500" marT="57749" marB="16500">
                    <a:lnT w="12700" cap="flat" cmpd="sng" algn="ctr">
                      <a:solidFill>
                        <a:schemeClr val="tx1"/>
                      </a:solidFill>
                      <a:prstDash val="solid"/>
                      <a:round/>
                      <a:headEnd type="none" w="med" len="med"/>
                      <a:tailEnd type="none" w="med" len="med"/>
                    </a:lnT>
                  </a:tcPr>
                </a:tc>
                <a:tc>
                  <a:txBody>
                    <a:bodyPr/>
                    <a:lstStyle/>
                    <a:p>
                      <a:pPr lvl="1" algn="ctr" rtl="0" fontAlgn="t">
                        <a:buNone/>
                      </a:pPr>
                      <a:r>
                        <a:rPr lang="en-US" sz="1300" dirty="0">
                          <a:effectLst/>
                        </a:rPr>
                        <a:t>0.62</a:t>
                      </a:r>
                    </a:p>
                  </a:txBody>
                  <a:tcPr marL="16500" marR="16500" marT="57749" marB="16500">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997499482"/>
                  </a:ext>
                </a:extLst>
              </a:tr>
            </a:tbl>
          </a:graphicData>
        </a:graphic>
      </p:graphicFrame>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9B40A8A-8184-080A-E864-21154EFDBA1C}"/>
                  </a:ext>
                </a:extLst>
              </p:cNvPr>
              <p:cNvSpPr txBox="1"/>
              <p:nvPr/>
            </p:nvSpPr>
            <p:spPr>
              <a:xfrm>
                <a:off x="15560261" y="13779690"/>
                <a:ext cx="6198377" cy="572208"/>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Table 3: </a:t>
                </a:r>
                <a14:m>
                  <m:oMath xmlns:m="http://schemas.openxmlformats.org/officeDocument/2006/math">
                    <m:r>
                      <m:rPr>
                        <m:sty m:val="p"/>
                      </m:rPr>
                      <a:rPr lang="en-US" sz="1559" b="0" i="1" smtClean="0">
                        <a:solidFill>
                          <a:schemeClr val="bg2">
                            <a:lumMod val="75000"/>
                          </a:schemeClr>
                        </a:solidFill>
                        <a:latin typeface="Cambria Math" panose="02040503050406030204" pitchFamily="18" charset="0"/>
                        <a:cs typeface="Arial" panose="020B0604020202020204" pitchFamily="34" charset="0"/>
                      </a:rPr>
                      <m:t>τ</m:t>
                    </m:r>
                  </m:oMath>
                </a14:m>
                <a:r>
                  <a:rPr lang="en-GB" sz="1559" i="1" dirty="0">
                    <a:solidFill>
                      <a:schemeClr val="bg2">
                        <a:lumMod val="75000"/>
                      </a:schemeClr>
                    </a:solidFill>
                    <a:latin typeface="Arial" panose="020B0604020202020204" pitchFamily="34" charset="0"/>
                    <a:cs typeface="Arial" panose="020B0604020202020204" pitchFamily="34" charset="0"/>
                  </a:rPr>
                  <a:t> posterior mean of variance in rates per 10,000 with 95% CI for the 7 HSE regions. </a:t>
                </a:r>
                <a:endParaRPr lang="en-IE" sz="1559" i="1" dirty="0">
                  <a:solidFill>
                    <a:schemeClr val="bg2">
                      <a:lumMod val="75000"/>
                    </a:schemeClr>
                  </a:solidFill>
                  <a:latin typeface="Arial" panose="020B0604020202020204" pitchFamily="34" charset="0"/>
                  <a:cs typeface="Arial" panose="020B0604020202020204" pitchFamily="34" charset="0"/>
                </a:endParaRPr>
              </a:p>
            </p:txBody>
          </p:sp>
        </mc:Choice>
        <mc:Fallback xmlns="">
          <p:sp>
            <p:nvSpPr>
              <p:cNvPr id="33" name="TextBox 32">
                <a:extLst>
                  <a:ext uri="{FF2B5EF4-FFF2-40B4-BE49-F238E27FC236}">
                    <a16:creationId xmlns:a16="http://schemas.microsoft.com/office/drawing/2014/main" id="{39B40A8A-8184-080A-E864-21154EFDBA1C}"/>
                  </a:ext>
                </a:extLst>
              </p:cNvPr>
              <p:cNvSpPr txBox="1">
                <a:spLocks noRot="1" noChangeAspect="1" noMove="1" noResize="1" noEditPoints="1" noAdjustHandles="1" noChangeArrowheads="1" noChangeShapeType="1" noTextEdit="1"/>
              </p:cNvSpPr>
              <p:nvPr/>
            </p:nvSpPr>
            <p:spPr>
              <a:xfrm>
                <a:off x="15560261" y="13779690"/>
                <a:ext cx="6198377" cy="572208"/>
              </a:xfrm>
              <a:prstGeom prst="rect">
                <a:avLst/>
              </a:prstGeom>
              <a:blipFill>
                <a:blip r:embed="rId18"/>
                <a:stretch>
                  <a:fillRect l="-613" t="-2174" b="-152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5510B5E3-A935-1AC0-9C73-3097B5400CC4}"/>
                  </a:ext>
                </a:extLst>
              </p:cNvPr>
              <p:cNvSpPr txBox="1"/>
              <p:nvPr/>
            </p:nvSpPr>
            <p:spPr>
              <a:xfrm flipV="1">
                <a:off x="16002497" y="10295230"/>
                <a:ext cx="514753" cy="492122"/>
              </a:xfrm>
              <a:prstGeom prst="rect">
                <a:avLst/>
              </a:prstGeom>
              <a:noFill/>
            </p:spPr>
            <p:txBody>
              <a:bodyPr wrap="square">
                <a:spAutoFit/>
              </a:bodyPr>
              <a:lstStyle/>
              <a:p>
                <a:r>
                  <a:rPr lang="en-US" sz="2598" dirty="0">
                    <a:solidFill>
                      <a:schemeClr val="bg2">
                        <a:lumMod val="75000"/>
                      </a:schemeClr>
                    </a:solidFill>
                    <a:cs typeface="Arial" panose="020B0604020202020204" pitchFamily="34" charset="0"/>
                  </a:rPr>
                  <a:t>:</a:t>
                </a:r>
                <a14:m>
                  <m:oMath xmlns:m="http://schemas.openxmlformats.org/officeDocument/2006/math">
                    <m:r>
                      <a:rPr lang="en-US" sz="2598" i="1">
                        <a:solidFill>
                          <a:schemeClr val="bg2">
                            <a:lumMod val="75000"/>
                          </a:schemeClr>
                        </a:solidFill>
                        <a:latin typeface="Cambria Math" panose="02040503050406030204" pitchFamily="18" charset="0"/>
                        <a:cs typeface="Arial" panose="020B0604020202020204" pitchFamily="34" charset="0"/>
                      </a:rPr>
                      <m:t>𝜙</m:t>
                    </m:r>
                  </m:oMath>
                </a14:m>
                <a:endParaRPr lang="en-US" sz="2339" dirty="0"/>
              </a:p>
            </p:txBody>
          </p:sp>
        </mc:Choice>
        <mc:Fallback xmlns="">
          <p:sp>
            <p:nvSpPr>
              <p:cNvPr id="35" name="TextBox 34">
                <a:extLst>
                  <a:ext uri="{FF2B5EF4-FFF2-40B4-BE49-F238E27FC236}">
                    <a16:creationId xmlns:a16="http://schemas.microsoft.com/office/drawing/2014/main" id="{5510B5E3-A935-1AC0-9C73-3097B5400CC4}"/>
                  </a:ext>
                </a:extLst>
              </p:cNvPr>
              <p:cNvSpPr txBox="1">
                <a:spLocks noRot="1" noChangeAspect="1" noMove="1" noResize="1" noEditPoints="1" noAdjustHandles="1" noChangeArrowheads="1" noChangeShapeType="1" noTextEdit="1"/>
              </p:cNvSpPr>
              <p:nvPr/>
            </p:nvSpPr>
            <p:spPr>
              <a:xfrm flipV="1">
                <a:off x="16002497" y="10295230"/>
                <a:ext cx="514753" cy="492122"/>
              </a:xfrm>
              <a:prstGeom prst="rect">
                <a:avLst/>
              </a:prstGeom>
              <a:blipFill>
                <a:blip r:embed="rId19"/>
                <a:stretch>
                  <a:fillRect t="-30864" r="-21176" b="-11111"/>
                </a:stretch>
              </a:blipFill>
            </p:spPr>
            <p:txBody>
              <a:bodyPr/>
              <a:lstStyle/>
              <a:p>
                <a:r>
                  <a:rPr lang="en-IE">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D9270A54-EA7F-6140-D80C-8DF88D48111B}"/>
                  </a:ext>
                </a:extLst>
              </p:cNvPr>
              <p:cNvSpPr txBox="1"/>
              <p:nvPr/>
            </p:nvSpPr>
            <p:spPr>
              <a:xfrm>
                <a:off x="15467455" y="8079615"/>
                <a:ext cx="584155" cy="399789"/>
              </a:xfrm>
              <a:prstGeom prst="rect">
                <a:avLst/>
              </a:prstGeom>
              <a:noFill/>
            </p:spPr>
            <p:txBody>
              <a:bodyPr wrap="square" lIns="0" tIns="0" rIns="0" bIns="0" rtlCol="0">
                <a:spAutoFit/>
              </a:bodyPr>
              <a:lstStyle/>
              <a:p>
                <a14:m>
                  <m:oMath xmlns:m="http://schemas.openxmlformats.org/officeDocument/2006/math">
                    <m:r>
                      <a:rPr lang="en-US" sz="2598" i="1">
                        <a:latin typeface="Cambria Math" panose="02040503050406030204" pitchFamily="18" charset="0"/>
                      </a:rPr>
                      <m:t>𝛼</m:t>
                    </m:r>
                  </m:oMath>
                </a14:m>
                <a:r>
                  <a:rPr lang="en-US" sz="2598" dirty="0"/>
                  <a:t>:</a:t>
                </a:r>
              </a:p>
            </p:txBody>
          </p:sp>
        </mc:Choice>
        <mc:Fallback xmlns="">
          <p:sp>
            <p:nvSpPr>
              <p:cNvPr id="38" name="TextBox 37">
                <a:extLst>
                  <a:ext uri="{FF2B5EF4-FFF2-40B4-BE49-F238E27FC236}">
                    <a16:creationId xmlns:a16="http://schemas.microsoft.com/office/drawing/2014/main" id="{D9270A54-EA7F-6140-D80C-8DF88D48111B}"/>
                  </a:ext>
                </a:extLst>
              </p:cNvPr>
              <p:cNvSpPr txBox="1">
                <a:spLocks noRot="1" noChangeAspect="1" noMove="1" noResize="1" noEditPoints="1" noAdjustHandles="1" noChangeArrowheads="1" noChangeShapeType="1" noTextEdit="1"/>
              </p:cNvSpPr>
              <p:nvPr/>
            </p:nvSpPr>
            <p:spPr>
              <a:xfrm>
                <a:off x="15467455" y="8079615"/>
                <a:ext cx="584155" cy="399789"/>
              </a:xfrm>
              <a:prstGeom prst="rect">
                <a:avLst/>
              </a:prstGeom>
              <a:blipFill>
                <a:blip r:embed="rId20"/>
                <a:stretch>
                  <a:fillRect t="-24242" b="-48485"/>
                </a:stretch>
              </a:blipFill>
            </p:spPr>
            <p:txBody>
              <a:bodyPr/>
              <a:lstStyle/>
              <a:p>
                <a:r>
                  <a:rPr lang="en-IE">
                    <a:noFill/>
                  </a:rPr>
                  <a:t> </a:t>
                </a:r>
              </a:p>
            </p:txBody>
          </p:sp>
        </mc:Fallback>
      </mc:AlternateContent>
      <p:pic>
        <p:nvPicPr>
          <p:cNvPr id="44" name="Picture 43">
            <a:extLst>
              <a:ext uri="{FF2B5EF4-FFF2-40B4-BE49-F238E27FC236}">
                <a16:creationId xmlns:a16="http://schemas.microsoft.com/office/drawing/2014/main" id="{96CF67C8-A6C7-BD33-5258-B695683946B5}"/>
              </a:ext>
            </a:extLst>
          </p:cNvPr>
          <p:cNvPicPr>
            <a:picLocks noChangeAspect="1"/>
          </p:cNvPicPr>
          <p:nvPr/>
        </p:nvPicPr>
        <p:blipFill>
          <a:blip r:embed="rId21"/>
          <a:stretch>
            <a:fillRect/>
          </a:stretch>
        </p:blipFill>
        <p:spPr>
          <a:xfrm>
            <a:off x="22495747" y="4145922"/>
            <a:ext cx="6927530" cy="9034692"/>
          </a:xfrm>
          <a:prstGeom prst="rect">
            <a:avLst/>
          </a:prstGeom>
        </p:spPr>
      </p:pic>
      <p:pic>
        <p:nvPicPr>
          <p:cNvPr id="30" name="Picture 29">
            <a:extLst>
              <a:ext uri="{FF2B5EF4-FFF2-40B4-BE49-F238E27FC236}">
                <a16:creationId xmlns:a16="http://schemas.microsoft.com/office/drawing/2014/main" id="{3B1BFBC5-E8FB-33BC-7FE3-B6D642C6D712}"/>
              </a:ext>
            </a:extLst>
          </p:cNvPr>
          <p:cNvPicPr>
            <a:picLocks noChangeAspect="1"/>
          </p:cNvPicPr>
          <p:nvPr/>
        </p:nvPicPr>
        <p:blipFill>
          <a:blip r:embed="rId22"/>
          <a:stretch>
            <a:fillRect/>
          </a:stretch>
        </p:blipFill>
        <p:spPr>
          <a:xfrm>
            <a:off x="15271253" y="4079807"/>
            <a:ext cx="6829462" cy="2171260"/>
          </a:xfrm>
          <a:prstGeom prst="rect">
            <a:avLst/>
          </a:prstGeom>
        </p:spPr>
      </p:pic>
      <p:sp>
        <p:nvSpPr>
          <p:cNvPr id="15" name="Google Shape;60;p13">
            <a:extLst>
              <a:ext uri="{FF2B5EF4-FFF2-40B4-BE49-F238E27FC236}">
                <a16:creationId xmlns:a16="http://schemas.microsoft.com/office/drawing/2014/main" id="{D65D3A8C-DB23-C1F8-C553-6461838176CD}"/>
              </a:ext>
            </a:extLst>
          </p:cNvPr>
          <p:cNvSpPr/>
          <p:nvPr/>
        </p:nvSpPr>
        <p:spPr>
          <a:xfrm>
            <a:off x="15429252" y="14455969"/>
            <a:ext cx="6787033" cy="772109"/>
          </a:xfrm>
          <a:prstGeom prst="rect">
            <a:avLst/>
          </a:prstGeom>
          <a:solidFill>
            <a:srgbClr val="A80050"/>
          </a:solidFill>
          <a:ln>
            <a:noFill/>
          </a:ln>
        </p:spPr>
        <p:txBody>
          <a:bodyPr spcFirstLastPara="1" wrap="square" lIns="190559" tIns="95279" rIns="190559" bIns="95279" anchor="ctr" anchorCtr="0">
            <a:noAutofit/>
          </a:bodyPr>
          <a:lstStyle/>
          <a:p>
            <a:pPr algn="ctr">
              <a:buClr>
                <a:srgbClr val="FFFFFF"/>
              </a:buClr>
              <a:buSzPts val="4800"/>
            </a:pPr>
            <a:r>
              <a:rPr lang="en" sz="3118" b="1" dirty="0">
                <a:solidFill>
                  <a:srgbClr val="FFFFFF"/>
                </a:solidFill>
                <a:latin typeface="Arial" panose="020B0604020202020204" pitchFamily="34" charset="0"/>
                <a:ea typeface="Fira Sans"/>
                <a:cs typeface="Arial" panose="020B0604020202020204" pitchFamily="34" charset="0"/>
                <a:sym typeface="Fira Sans"/>
              </a:rPr>
              <a:t>Key Takeaways</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BB7E5A60-EF02-0E2B-A2A9-4E9F6132C8FD}"/>
                  </a:ext>
                </a:extLst>
              </p:cNvPr>
              <p:cNvSpPr txBox="1"/>
              <p:nvPr/>
            </p:nvSpPr>
            <p:spPr>
              <a:xfrm>
                <a:off x="8249824" y="13383195"/>
                <a:ext cx="6548583" cy="2331920"/>
              </a:xfrm>
              <a:prstGeom prst="rect">
                <a:avLst/>
              </a:prstGeom>
              <a:noFill/>
            </p:spPr>
            <p:txBody>
              <a:bodyPr wrap="square" rtlCol="0">
                <a:spAutoFit/>
              </a:bodyPr>
              <a:lstStyle/>
              <a:p>
                <a:pPr fontAlgn="base"/>
                <a:r>
                  <a:rPr lang="en-US" sz="1819" dirty="0">
                    <a:solidFill>
                      <a:schemeClr val="tx1"/>
                    </a:solidFill>
                    <a:cs typeface="Arial" panose="020B0604020202020204" pitchFamily="34" charset="0"/>
                  </a:rPr>
                  <a:t>In figure 3, </a:t>
                </a:r>
                <a14:m>
                  <m:oMath xmlns:m="http://schemas.openxmlformats.org/officeDocument/2006/math">
                    <m:r>
                      <a:rPr lang="en-US" sz="1819" i="1">
                        <a:solidFill>
                          <a:schemeClr val="tx1"/>
                        </a:solidFill>
                        <a:latin typeface="Cambria Math" panose="02040503050406030204" pitchFamily="18" charset="0"/>
                        <a:cs typeface="Arial" panose="020B0604020202020204" pitchFamily="34" charset="0"/>
                      </a:rPr>
                      <m:t>𝜇</m:t>
                    </m:r>
                  </m:oMath>
                </a14:m>
                <a:r>
                  <a:rPr lang="en-GB" sz="1819" dirty="0">
                    <a:solidFill>
                      <a:schemeClr val="tx1"/>
                    </a:solidFill>
                    <a:latin typeface="Arial" panose="020B0604020202020204" pitchFamily="34" charset="0"/>
                    <a:cs typeface="Arial" panose="020B0604020202020204" pitchFamily="34" charset="0"/>
                  </a:rPr>
                  <a:t> is plotted alone to visualize the intercept and the annual cycles. </a:t>
                </a:r>
                <a:r>
                  <a:rPr lang="en-GB" sz="1819" dirty="0">
                    <a:latin typeface="Arial" panose="020B0604020202020204" pitchFamily="34" charset="0"/>
                    <a:cs typeface="Arial" panose="020B0604020202020204" pitchFamily="34" charset="0"/>
                  </a:rPr>
                  <a:t>Dublin</a:t>
                </a:r>
                <a:r>
                  <a:rPr lang="en-GB" sz="1819" b="1" dirty="0">
                    <a:latin typeface="Arial" panose="020B0604020202020204" pitchFamily="34" charset="0"/>
                    <a:cs typeface="Arial" panose="020B0604020202020204" pitchFamily="34" charset="0"/>
                  </a:rPr>
                  <a:t> </a:t>
                </a:r>
                <a:r>
                  <a:rPr lang="en-GB" sz="1819" dirty="0">
                    <a:latin typeface="Arial" panose="020B0604020202020204" pitchFamily="34" charset="0"/>
                    <a:cs typeface="Arial" panose="020B0604020202020204" pitchFamily="34" charset="0"/>
                  </a:rPr>
                  <a:t>regions have narrower CI’s. HSE Mid West, HSE West and North West, and HSE South West show weaker annual trends with widest CI’s (figure 3). This Dublin and non-Dublin grouping extends to the the </a:t>
                </a:r>
                <a14:m>
                  <m:oMath xmlns:m="http://schemas.openxmlformats.org/officeDocument/2006/math">
                    <m:r>
                      <a:rPr lang="en-US" sz="1819" i="1">
                        <a:latin typeface="Cambria Math" panose="02040503050406030204" pitchFamily="18" charset="0"/>
                        <a:cs typeface="Arial" panose="020B0604020202020204" pitchFamily="34" charset="0"/>
                      </a:rPr>
                      <m:t>𝛼</m:t>
                    </m:r>
                  </m:oMath>
                </a14:m>
                <a:r>
                  <a:rPr lang="en-GB" sz="1819" dirty="0">
                    <a:latin typeface="Arial" panose="020B0604020202020204" pitchFamily="34" charset="0"/>
                    <a:cs typeface="Arial" panose="020B0604020202020204" pitchFamily="34" charset="0"/>
                  </a:rPr>
                  <a:t> intercepts where </a:t>
                </a:r>
                <a:r>
                  <a:rPr lang="en-GB" sz="1819" b="1" dirty="0">
                    <a:latin typeface="Arial" panose="020B0604020202020204" pitchFamily="34" charset="0"/>
                    <a:cs typeface="Arial" panose="020B0604020202020204" pitchFamily="34" charset="0"/>
                  </a:rPr>
                  <a:t>some</a:t>
                </a:r>
                <a:r>
                  <a:rPr lang="en-GB" sz="1819" dirty="0">
                    <a:latin typeface="Arial" panose="020B0604020202020204" pitchFamily="34" charset="0"/>
                    <a:cs typeface="Arial" panose="020B0604020202020204" pitchFamily="34" charset="0"/>
                  </a:rPr>
                  <a:t> </a:t>
                </a:r>
                <a:r>
                  <a:rPr lang="en-GB" sz="1819" b="1" dirty="0">
                    <a:latin typeface="Arial" panose="020B0604020202020204" pitchFamily="34" charset="0"/>
                    <a:cs typeface="Arial" panose="020B0604020202020204" pitchFamily="34" charset="0"/>
                  </a:rPr>
                  <a:t>non-Dublin regions have multiple times higher trolley rates per 10,000 people than Dublin regions </a:t>
                </a:r>
                <a:r>
                  <a:rPr lang="en-GB" sz="1819" dirty="0">
                    <a:latin typeface="Arial" panose="020B0604020202020204" pitchFamily="34" charset="0"/>
                    <a:cs typeface="Arial" panose="020B0604020202020204" pitchFamily="34" charset="0"/>
                  </a:rPr>
                  <a:t>(table 1). </a:t>
                </a:r>
              </a:p>
            </p:txBody>
          </p:sp>
        </mc:Choice>
        <mc:Fallback xmlns="">
          <p:sp>
            <p:nvSpPr>
              <p:cNvPr id="16" name="TextBox 15">
                <a:extLst>
                  <a:ext uri="{FF2B5EF4-FFF2-40B4-BE49-F238E27FC236}">
                    <a16:creationId xmlns:a16="http://schemas.microsoft.com/office/drawing/2014/main" id="{BB7E5A60-EF02-0E2B-A2A9-4E9F6132C8FD}"/>
                  </a:ext>
                </a:extLst>
              </p:cNvPr>
              <p:cNvSpPr txBox="1">
                <a:spLocks noRot="1" noChangeAspect="1" noMove="1" noResize="1" noEditPoints="1" noAdjustHandles="1" noChangeArrowheads="1" noChangeShapeType="1" noTextEdit="1"/>
              </p:cNvSpPr>
              <p:nvPr/>
            </p:nvSpPr>
            <p:spPr>
              <a:xfrm>
                <a:off x="8249824" y="13383195"/>
                <a:ext cx="6548583" cy="2331920"/>
              </a:xfrm>
              <a:prstGeom prst="rect">
                <a:avLst/>
              </a:prstGeom>
              <a:blipFill>
                <a:blip r:embed="rId23"/>
                <a:stretch>
                  <a:fillRect l="-744" t="-1044" r="-930" b="-3133"/>
                </a:stretch>
              </a:blipFill>
            </p:spPr>
            <p:txBody>
              <a:bodyPr/>
              <a:lstStyle/>
              <a:p>
                <a:r>
                  <a:rPr lang="en-I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D4C77F8-A467-57AD-F385-4783ADF711E9}"/>
                  </a:ext>
                </a:extLst>
              </p:cNvPr>
              <p:cNvSpPr txBox="1"/>
              <p:nvPr/>
            </p:nvSpPr>
            <p:spPr>
              <a:xfrm>
                <a:off x="15467455" y="10877796"/>
                <a:ext cx="6198377" cy="812145"/>
              </a:xfrm>
              <a:prstGeom prst="rect">
                <a:avLst/>
              </a:prstGeom>
              <a:noFill/>
            </p:spPr>
            <p:txBody>
              <a:bodyPr wrap="square" rtlCol="0">
                <a:spAutoFit/>
              </a:bodyPr>
              <a:lstStyle/>
              <a:p>
                <a:r>
                  <a:rPr lang="en-GB" sz="1559" i="1" dirty="0">
                    <a:solidFill>
                      <a:schemeClr val="bg2">
                        <a:lumMod val="75000"/>
                      </a:schemeClr>
                    </a:solidFill>
                    <a:latin typeface="Arial" panose="020B0604020202020204" pitchFamily="34" charset="0"/>
                    <a:cs typeface="Arial" panose="020B0604020202020204" pitchFamily="34" charset="0"/>
                  </a:rPr>
                  <a:t>Table 2: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𝜙</m:t>
                    </m:r>
                  </m:oMath>
                </a14:m>
                <a:r>
                  <a:rPr lang="en-GB" sz="1559" i="1" dirty="0">
                    <a:solidFill>
                      <a:schemeClr val="bg2">
                        <a:lumMod val="75000"/>
                      </a:schemeClr>
                    </a:solidFill>
                    <a:latin typeface="Arial" panose="020B0604020202020204" pitchFamily="34" charset="0"/>
                    <a:cs typeface="Arial" panose="020B0604020202020204" pitchFamily="34" charset="0"/>
                  </a:rPr>
                  <a:t> posterior mean rates per 10,000 with 95% CI for the 7 HSE regions. </a:t>
                </a:r>
                <a14:m>
                  <m:oMath xmlns:m="http://schemas.openxmlformats.org/officeDocument/2006/math">
                    <m:r>
                      <a:rPr lang="en-US" sz="1559" i="1">
                        <a:solidFill>
                          <a:schemeClr val="bg2">
                            <a:lumMod val="75000"/>
                          </a:schemeClr>
                        </a:solidFill>
                        <a:latin typeface="Cambria Math" panose="02040503050406030204" pitchFamily="18" charset="0"/>
                        <a:cs typeface="Arial" panose="020B0604020202020204" pitchFamily="34" charset="0"/>
                      </a:rPr>
                      <m:t>𝜙</m:t>
                    </m:r>
                  </m:oMath>
                </a14:m>
                <a:r>
                  <a:rPr lang="en-IE" sz="1559" i="1" dirty="0">
                    <a:solidFill>
                      <a:schemeClr val="bg2">
                        <a:lumMod val="75000"/>
                      </a:schemeClr>
                    </a:solidFill>
                    <a:latin typeface="Arial" panose="020B0604020202020204" pitchFamily="34" charset="0"/>
                    <a:cs typeface="Arial" panose="020B0604020202020204" pitchFamily="34" charset="0"/>
                  </a:rPr>
                  <a:t> represents amplitude of the carryover from last week. </a:t>
                </a:r>
              </a:p>
            </p:txBody>
          </p:sp>
        </mc:Choice>
        <mc:Fallback xmlns="">
          <p:sp>
            <p:nvSpPr>
              <p:cNvPr id="19" name="TextBox 18">
                <a:extLst>
                  <a:ext uri="{FF2B5EF4-FFF2-40B4-BE49-F238E27FC236}">
                    <a16:creationId xmlns:a16="http://schemas.microsoft.com/office/drawing/2014/main" id="{4D4C77F8-A467-57AD-F385-4783ADF711E9}"/>
                  </a:ext>
                </a:extLst>
              </p:cNvPr>
              <p:cNvSpPr txBox="1">
                <a:spLocks noRot="1" noChangeAspect="1" noMove="1" noResize="1" noEditPoints="1" noAdjustHandles="1" noChangeArrowheads="1" noChangeShapeType="1" noTextEdit="1"/>
              </p:cNvSpPr>
              <p:nvPr/>
            </p:nvSpPr>
            <p:spPr>
              <a:xfrm>
                <a:off x="15467455" y="10877796"/>
                <a:ext cx="6198377" cy="812145"/>
              </a:xfrm>
              <a:prstGeom prst="rect">
                <a:avLst/>
              </a:prstGeom>
              <a:blipFill>
                <a:blip r:embed="rId24"/>
                <a:stretch>
                  <a:fillRect l="-409" t="-1538" b="-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225FAFD-5AC9-CCAF-26E3-49891FDD45F3}"/>
                  </a:ext>
                </a:extLst>
              </p:cNvPr>
              <p:cNvSpPr txBox="1"/>
              <p:nvPr/>
            </p:nvSpPr>
            <p:spPr>
              <a:xfrm>
                <a:off x="15747773" y="12513919"/>
                <a:ext cx="584155" cy="399789"/>
              </a:xfrm>
              <a:prstGeom prst="rect">
                <a:avLst/>
              </a:prstGeom>
              <a:noFill/>
            </p:spPr>
            <p:txBody>
              <a:bodyPr wrap="square" lIns="0" tIns="0" rIns="0" bIns="0" rtlCol="0">
                <a:spAutoFit/>
              </a:bodyPr>
              <a:lstStyle/>
              <a:p>
                <a14:m>
                  <m:oMath xmlns:m="http://schemas.openxmlformats.org/officeDocument/2006/math">
                    <m:r>
                      <m:rPr>
                        <m:sty m:val="p"/>
                      </m:rPr>
                      <a:rPr lang="en-US" sz="2598" b="0" i="1" smtClean="0">
                        <a:latin typeface="Cambria Math" panose="02040503050406030204" pitchFamily="18" charset="0"/>
                      </a:rPr>
                      <m:t>τ</m:t>
                    </m:r>
                  </m:oMath>
                </a14:m>
                <a:r>
                  <a:rPr lang="en-US" sz="2598" dirty="0"/>
                  <a:t>:</a:t>
                </a:r>
              </a:p>
            </p:txBody>
          </p:sp>
        </mc:Choice>
        <mc:Fallback xmlns="">
          <p:sp>
            <p:nvSpPr>
              <p:cNvPr id="22" name="TextBox 21">
                <a:extLst>
                  <a:ext uri="{FF2B5EF4-FFF2-40B4-BE49-F238E27FC236}">
                    <a16:creationId xmlns:a16="http://schemas.microsoft.com/office/drawing/2014/main" id="{6225FAFD-5AC9-CCAF-26E3-49891FDD45F3}"/>
                  </a:ext>
                </a:extLst>
              </p:cNvPr>
              <p:cNvSpPr txBox="1">
                <a:spLocks noRot="1" noChangeAspect="1" noMove="1" noResize="1" noEditPoints="1" noAdjustHandles="1" noChangeArrowheads="1" noChangeShapeType="1" noTextEdit="1"/>
              </p:cNvSpPr>
              <p:nvPr/>
            </p:nvSpPr>
            <p:spPr>
              <a:xfrm>
                <a:off x="15747773" y="12513919"/>
                <a:ext cx="584155" cy="399789"/>
              </a:xfrm>
              <a:prstGeom prst="rect">
                <a:avLst/>
              </a:prstGeom>
              <a:blipFill>
                <a:blip r:embed="rId25"/>
                <a:stretch>
                  <a:fillRect l="-12766" t="-25000" b="-46875"/>
                </a:stretch>
              </a:blipFill>
            </p:spPr>
            <p:txBody>
              <a:bodyPr/>
              <a:lstStyle/>
              <a:p>
                <a:r>
                  <a:rPr lang="en-US">
                    <a:noFill/>
                  </a:rPr>
                  <a:t> </a:t>
                </a:r>
              </a:p>
            </p:txBody>
          </p:sp>
        </mc:Fallback>
      </mc:AlternateContent>
      <p:sp>
        <p:nvSpPr>
          <p:cNvPr id="27" name="Google Shape;63;p13">
            <a:extLst>
              <a:ext uri="{FF2B5EF4-FFF2-40B4-BE49-F238E27FC236}">
                <a16:creationId xmlns:a16="http://schemas.microsoft.com/office/drawing/2014/main" id="{A665059A-EC4D-245E-3494-6F922A405DB8}"/>
              </a:ext>
            </a:extLst>
          </p:cNvPr>
          <p:cNvSpPr/>
          <p:nvPr/>
        </p:nvSpPr>
        <p:spPr>
          <a:xfrm>
            <a:off x="11487539" y="1518360"/>
            <a:ext cx="7567428" cy="732901"/>
          </a:xfrm>
          <a:prstGeom prst="rect">
            <a:avLst/>
          </a:prstGeom>
          <a:noFill/>
          <a:ln>
            <a:noFill/>
          </a:ln>
        </p:spPr>
        <p:txBody>
          <a:bodyPr spcFirstLastPara="1" wrap="square" lIns="294007" tIns="147003" rIns="294007" bIns="147003" anchor="t" anchorCtr="0">
            <a:noAutofit/>
          </a:bodyPr>
          <a:lstStyle/>
          <a:p>
            <a:pPr algn="ctr">
              <a:buClr>
                <a:srgbClr val="004E8F"/>
              </a:buClr>
              <a:buSzPts val="6000"/>
            </a:pPr>
            <a:r>
              <a:rPr lang="en" sz="3200" dirty="0">
                <a:solidFill>
                  <a:srgbClr val="A80050"/>
                </a:solidFill>
                <a:latin typeface="Fira Sans" panose="020B0503050000020004" pitchFamily="34" charset="0"/>
                <a:cs typeface="Arial" panose="020B0604020202020204" pitchFamily="34" charset="0"/>
                <a:sym typeface="Oswald"/>
              </a:rPr>
              <a:t>Lucas Henry</a:t>
            </a:r>
            <a:r>
              <a:rPr lang="en" sz="3200" baseline="30000" dirty="0">
                <a:solidFill>
                  <a:srgbClr val="A80050"/>
                </a:solidFill>
                <a:latin typeface="Fira Sans" panose="020B0503050000020004" pitchFamily="34" charset="0"/>
                <a:cs typeface="Arial" panose="020B0604020202020204" pitchFamily="34" charset="0"/>
                <a:sym typeface="Oswald"/>
              </a:rPr>
              <a:t>1</a:t>
            </a:r>
            <a:r>
              <a:rPr lang="en" sz="3200" dirty="0">
                <a:solidFill>
                  <a:srgbClr val="A80050"/>
                </a:solidFill>
                <a:latin typeface="Fira Sans" panose="020B0503050000020004" pitchFamily="34" charset="0"/>
                <a:cs typeface="Arial" panose="020B0604020202020204" pitchFamily="34" charset="0"/>
                <a:sym typeface="Oswald"/>
              </a:rPr>
              <a:t>, Evan Bergin</a:t>
            </a:r>
            <a:r>
              <a:rPr lang="en" sz="3200" baseline="30000" dirty="0">
                <a:solidFill>
                  <a:srgbClr val="A80050"/>
                </a:solidFill>
                <a:latin typeface="Fira Sans" panose="020B0503050000020004" pitchFamily="34" charset="0"/>
                <a:cs typeface="Arial" panose="020B0604020202020204" pitchFamily="34" charset="0"/>
                <a:sym typeface="Oswald"/>
              </a:rPr>
              <a:t>1</a:t>
            </a:r>
            <a:endParaRPr sz="400" baseline="30000" dirty="0">
              <a:solidFill>
                <a:srgbClr val="A80050"/>
              </a:solidFill>
              <a:latin typeface="Fira Sans" panose="020B0503050000020004" pitchFamily="34" charset="0"/>
              <a:cs typeface="Arial" panose="020B0604020202020204" pitchFamily="34" charset="0"/>
            </a:endParaRPr>
          </a:p>
        </p:txBody>
      </p:sp>
      <p:sp>
        <p:nvSpPr>
          <p:cNvPr id="28" name="Google Shape;63;p13">
            <a:extLst>
              <a:ext uri="{FF2B5EF4-FFF2-40B4-BE49-F238E27FC236}">
                <a16:creationId xmlns:a16="http://schemas.microsoft.com/office/drawing/2014/main" id="{7A436CFF-C6A4-4353-27B9-AF308DE22793}"/>
              </a:ext>
            </a:extLst>
          </p:cNvPr>
          <p:cNvSpPr/>
          <p:nvPr/>
        </p:nvSpPr>
        <p:spPr>
          <a:xfrm>
            <a:off x="8513178" y="2208275"/>
            <a:ext cx="13977066" cy="921190"/>
          </a:xfrm>
          <a:prstGeom prst="rect">
            <a:avLst/>
          </a:prstGeom>
          <a:noFill/>
          <a:ln>
            <a:noFill/>
          </a:ln>
        </p:spPr>
        <p:txBody>
          <a:bodyPr spcFirstLastPara="1" wrap="square" lIns="294007" tIns="147003" rIns="294007" bIns="147003" anchor="t" anchorCtr="0">
            <a:noAutofit/>
          </a:bodyPr>
          <a:lstStyle/>
          <a:p>
            <a:pPr algn="ctr">
              <a:buClr>
                <a:srgbClr val="004E8F"/>
              </a:buClr>
              <a:buSzPts val="6000"/>
            </a:pPr>
            <a:r>
              <a:rPr lang="en-US" sz="1800" baseline="30000" dirty="0">
                <a:solidFill>
                  <a:srgbClr val="A80050"/>
                </a:solidFill>
                <a:latin typeface="Fira Sans" panose="020B0503050000020004" pitchFamily="34" charset="0"/>
                <a:cs typeface="Arial" panose="020B0604020202020204" pitchFamily="34" charset="0"/>
                <a:sym typeface="Oswald"/>
              </a:rPr>
              <a:t>1</a:t>
            </a:r>
            <a:r>
              <a:rPr lang="en-US" sz="1800" dirty="0">
                <a:solidFill>
                  <a:srgbClr val="A80050"/>
                </a:solidFill>
                <a:latin typeface="Fira Sans" panose="020B0503050000020004" pitchFamily="34" charset="0"/>
                <a:cs typeface="Arial" panose="020B0604020202020204" pitchFamily="34" charset="0"/>
                <a:sym typeface="Oswald"/>
              </a:rPr>
              <a:t>School of Mathematical and Statistical Sciences, University of Galway</a:t>
            </a:r>
            <a:endParaRPr sz="100" baseline="30000" dirty="0">
              <a:solidFill>
                <a:srgbClr val="A80050"/>
              </a:solidFill>
              <a:latin typeface="Fira Sans" panose="020B0503050000020004" pitchFamily="34" charset="0"/>
              <a:cs typeface="Arial" panose="020B0604020202020204" pitchFamily="34" charset="0"/>
            </a:endParaRPr>
          </a:p>
        </p:txBody>
      </p:sp>
      <p:graphicFrame>
        <p:nvGraphicFramePr>
          <p:cNvPr id="36" name="Table 35">
            <a:extLst>
              <a:ext uri="{FF2B5EF4-FFF2-40B4-BE49-F238E27FC236}">
                <a16:creationId xmlns:a16="http://schemas.microsoft.com/office/drawing/2014/main" id="{2D7358FA-850B-0006-AFCB-6D870856E2F3}"/>
              </a:ext>
            </a:extLst>
          </p:cNvPr>
          <p:cNvGraphicFramePr>
            <a:graphicFrameLocks noGrp="1"/>
          </p:cNvGraphicFramePr>
          <p:nvPr>
            <p:extLst>
              <p:ext uri="{D42A27DB-BD31-4B8C-83A1-F6EECF244321}">
                <p14:modId xmlns:p14="http://schemas.microsoft.com/office/powerpoint/2010/main" val="3429147928"/>
              </p:ext>
            </p:extLst>
          </p:nvPr>
        </p:nvGraphicFramePr>
        <p:xfrm>
          <a:off x="16229644" y="11656798"/>
          <a:ext cx="5288736" cy="2026920"/>
        </p:xfrm>
        <a:graphic>
          <a:graphicData uri="http://schemas.openxmlformats.org/drawingml/2006/table">
            <a:tbl>
              <a:tblPr/>
              <a:tblGrid>
                <a:gridCol w="728599">
                  <a:extLst>
                    <a:ext uri="{9D8B030D-6E8A-4147-A177-3AD203B41FA5}">
                      <a16:colId xmlns:a16="http://schemas.microsoft.com/office/drawing/2014/main" val="2783686909"/>
                    </a:ext>
                  </a:extLst>
                </a:gridCol>
                <a:gridCol w="590811">
                  <a:extLst>
                    <a:ext uri="{9D8B030D-6E8A-4147-A177-3AD203B41FA5}">
                      <a16:colId xmlns:a16="http://schemas.microsoft.com/office/drawing/2014/main" val="1474897673"/>
                    </a:ext>
                  </a:extLst>
                </a:gridCol>
                <a:gridCol w="695460">
                  <a:extLst>
                    <a:ext uri="{9D8B030D-6E8A-4147-A177-3AD203B41FA5}">
                      <a16:colId xmlns:a16="http://schemas.microsoft.com/office/drawing/2014/main" val="20465917"/>
                    </a:ext>
                  </a:extLst>
                </a:gridCol>
                <a:gridCol w="3273866">
                  <a:extLst>
                    <a:ext uri="{9D8B030D-6E8A-4147-A177-3AD203B41FA5}">
                      <a16:colId xmlns:a16="http://schemas.microsoft.com/office/drawing/2014/main" val="130274467"/>
                    </a:ext>
                  </a:extLst>
                </a:gridCol>
              </a:tblGrid>
              <a:tr h="0">
                <a:tc>
                  <a:txBody>
                    <a:bodyPr/>
                    <a:lstStyle/>
                    <a:p>
                      <a:pPr algn="ctr">
                        <a:buNone/>
                      </a:pPr>
                      <a:r>
                        <a:rPr lang="en-US" sz="1300" dirty="0">
                          <a:effectLst/>
                          <a:latin typeface="Fira Sans" panose="020B0503050000020004" pitchFamily="34" charset="0"/>
                        </a:rPr>
                        <a:t>Mean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97.5%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Region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072208"/>
                  </a:ext>
                </a:extLst>
              </a:tr>
              <a:tr h="259265">
                <a:tc>
                  <a:txBody>
                    <a:bodyPr/>
                    <a:lstStyle/>
                    <a:p>
                      <a:pPr algn="ctr">
                        <a:buNone/>
                      </a:pPr>
                      <a:r>
                        <a:rPr lang="en-US" sz="1300" dirty="0">
                          <a:effectLst/>
                          <a:latin typeface="Fira Sans" panose="020B0503050000020004" pitchFamily="34" charset="0"/>
                        </a:rPr>
                        <a:t>0.39</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0.31</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0.48</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Mid West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6125086"/>
                  </a:ext>
                </a:extLst>
              </a:tr>
              <a:tr h="288014">
                <a:tc>
                  <a:txBody>
                    <a:bodyPr/>
                    <a:lstStyle/>
                    <a:p>
                      <a:pPr algn="ctr">
                        <a:buNone/>
                      </a:pPr>
                      <a:r>
                        <a:rPr lang="en-US" sz="1300">
                          <a:effectLst/>
                          <a:latin typeface="Fira Sans" panose="020B0503050000020004" pitchFamily="34" charset="0"/>
                        </a:rPr>
                        <a:t>0.51</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0.40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0.63</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West and North West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1572506"/>
                  </a:ext>
                </a:extLst>
              </a:tr>
              <a:tr h="288014">
                <a:tc>
                  <a:txBody>
                    <a:bodyPr/>
                    <a:lstStyle/>
                    <a:p>
                      <a:pPr algn="ctr">
                        <a:buNone/>
                      </a:pPr>
                      <a:r>
                        <a:rPr lang="en-US" sz="1300" dirty="0">
                          <a:effectLst/>
                          <a:latin typeface="Fira Sans" panose="020B0503050000020004" pitchFamily="34" charset="0"/>
                        </a:rPr>
                        <a:t>0.70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0.55</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0.87</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South West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6715039"/>
                  </a:ext>
                </a:extLst>
              </a:tr>
              <a:tr h="288014">
                <a:tc>
                  <a:txBody>
                    <a:bodyPr/>
                    <a:lstStyle/>
                    <a:p>
                      <a:pPr algn="ctr">
                        <a:buNone/>
                      </a:pPr>
                      <a:r>
                        <a:rPr lang="en-US" sz="1300">
                          <a:effectLst/>
                          <a:latin typeface="Fira Sans" panose="020B0503050000020004" pitchFamily="34" charset="0"/>
                        </a:rPr>
                        <a:t>1.01</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0.79</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1.26</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Dublin and Midlands</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3515535"/>
                  </a:ext>
                </a:extLst>
              </a:tr>
              <a:tr h="288014">
                <a:tc>
                  <a:txBody>
                    <a:bodyPr/>
                    <a:lstStyle/>
                    <a:p>
                      <a:pPr algn="ctr">
                        <a:buNone/>
                      </a:pPr>
                      <a:r>
                        <a:rPr lang="en-US" sz="1300">
                          <a:effectLst/>
                          <a:latin typeface="Fira Sans" panose="020B0503050000020004" pitchFamily="34" charset="0"/>
                        </a:rPr>
                        <a:t>1.85</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1.45</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2.30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HSE Dublin and South East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5608754"/>
                  </a:ext>
                </a:extLst>
              </a:tr>
              <a:tr h="288014">
                <a:tc>
                  <a:txBody>
                    <a:bodyPr/>
                    <a:lstStyle/>
                    <a:p>
                      <a:pPr algn="ctr">
                        <a:buNone/>
                      </a:pPr>
                      <a:r>
                        <a:rPr lang="en-US" sz="1300">
                          <a:effectLst/>
                          <a:latin typeface="Fira Sans" panose="020B0503050000020004" pitchFamily="34" charset="0"/>
                        </a:rPr>
                        <a:t>2.42</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a:effectLst/>
                          <a:latin typeface="Fira Sans" panose="020B0503050000020004" pitchFamily="34" charset="0"/>
                        </a:rPr>
                        <a:t>1.90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3.00</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buNone/>
                      </a:pPr>
                      <a:r>
                        <a:rPr lang="en-US" sz="1300" dirty="0">
                          <a:effectLst/>
                          <a:latin typeface="Fira Sans" panose="020B0503050000020004" pitchFamily="34" charset="0"/>
                        </a:rPr>
                        <a:t>HSE Dublin and North East</a:t>
                      </a:r>
                    </a:p>
                  </a:txBody>
                  <a:tcPr anchor="ctr">
                    <a:lnL w="12700" cap="flat" cmpd="sng" algn="ctr">
                      <a:solidFill>
                        <a:schemeClr val="bg2">
                          <a:lumMod val="40000"/>
                          <a:lumOff val="60000"/>
                        </a:schemeClr>
                      </a:solidFill>
                      <a:prstDash val="solid"/>
                      <a:round/>
                      <a:headEnd type="none" w="med" len="med"/>
                      <a:tailEnd type="none" w="med" len="med"/>
                    </a:lnL>
                    <a:lnR w="12700" cap="flat" cmpd="sng" algn="ctr">
                      <a:solidFill>
                        <a:schemeClr val="bg2">
                          <a:lumMod val="40000"/>
                          <a:lumOff val="60000"/>
                        </a:schemeClr>
                      </a:solidFill>
                      <a:prstDash val="solid"/>
                      <a:round/>
                      <a:headEnd type="none" w="med" len="med"/>
                      <a:tailEnd type="none" w="med" len="med"/>
                    </a:lnR>
                    <a:lnT w="12700" cap="flat" cmpd="sng" algn="ctr">
                      <a:solidFill>
                        <a:schemeClr val="bg2">
                          <a:lumMod val="40000"/>
                          <a:lumOff val="60000"/>
                        </a:schemeClr>
                      </a:solidFill>
                      <a:prstDash val="solid"/>
                      <a:round/>
                      <a:headEnd type="none" w="med" len="med"/>
                      <a:tailEnd type="none" w="med" len="med"/>
                    </a:lnT>
                    <a:lnB w="1270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7058543"/>
                  </a:ext>
                </a:extLst>
              </a:tr>
            </a:tbl>
          </a:graphicData>
        </a:graphic>
      </p:graphicFrame>
    </p:spTree>
    <p:extLst>
      <p:ext uri="{BB962C8B-B14F-4D97-AF65-F5344CB8AC3E}">
        <p14:creationId xmlns:p14="http://schemas.microsoft.com/office/powerpoint/2010/main" val="304324536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3064</TotalTime>
  <Words>1372</Words>
  <Application>Microsoft Macintosh PowerPoint</Application>
  <PresentationFormat>Custom</PresentationFormat>
  <Paragraphs>137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Cambria Math</vt:lpstr>
      <vt:lpstr>Fira Sans</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Henry, Lucas</cp:lastModifiedBy>
  <cp:revision>13</cp:revision>
  <dcterms:modified xsi:type="dcterms:W3CDTF">2026-03-30T13:23:30Z</dcterms:modified>
</cp:coreProperties>
</file>